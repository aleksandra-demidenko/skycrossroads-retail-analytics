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4472C4"/>
    <a:srgbClr val="A5A5A5"/>
    <a:srgbClr val="4A77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15%2005_00_49689ebf01e5e908.08205501transaction_list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15%2005_00_49689ebf01e5e908.08205501transaction_list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emid\Desktop\15%2005_00_49689ebf01e5e908.08205501transaction_list2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15%2005_00_49689ebf01e5e908.08205501transaction_list2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15%2005_00_49689ebf01e5e908.08205501transaction_list2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07%2006_11_47689443a3345b10.04011331transaction_lis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15%2005_00_49689ebf01e5e908.08205501transaction_list2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mid\Desktop\15%2005_00_49689ebf01e5e908.08205501transaction_list2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06_11_47689443a3345b10.04011331transaction_list.xlsx]Лист1!Сводная таблица1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b="1" dirty="0">
                <a:solidFill>
                  <a:schemeClr val="tx1"/>
                </a:solidFill>
              </a:rPr>
              <a:t>Количество транзакций по Торговым</a:t>
            </a:r>
            <a:r>
              <a:rPr lang="ru-RU" sz="1800" b="1" baseline="0" dirty="0">
                <a:solidFill>
                  <a:schemeClr val="tx1"/>
                </a:solidFill>
              </a:rPr>
              <a:t> точкам</a:t>
            </a:r>
            <a:endParaRPr lang="ru-RU" sz="1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0694047046936032"/>
          <c:y val="1.86741363211951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3814685404795205E-2"/>
          <c:y val="9.2674576789940802E-2"/>
          <c:w val="0.70494840996624786"/>
          <c:h val="0.82028981357257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cat>
            <c:strRef>
              <c:f>Лист1!$A$5:$A$9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Лист1!$B$5:$B$9</c:f>
              <c:numCache>
                <c:formatCode>General</c:formatCode>
                <c:ptCount val="4"/>
                <c:pt idx="0">
                  <c:v>2775</c:v>
                </c:pt>
                <c:pt idx="1">
                  <c:v>2798</c:v>
                </c:pt>
                <c:pt idx="2">
                  <c:v>2615</c:v>
                </c:pt>
                <c:pt idx="3">
                  <c:v>2655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B1-4556-9650-F2E9C56DEB0B}"/>
            </c:ext>
          </c:extLst>
        </c:ser>
        <c:ser>
          <c:idx val="1"/>
          <c:order val="1"/>
          <c:tx>
            <c:strRef>
              <c:f>Лист1!$C$3:$C$4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cat>
            <c:strRef>
              <c:f>Лист1!$A$5:$A$9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Лист1!$C$5:$C$9</c:f>
              <c:numCache>
                <c:formatCode>General</c:formatCode>
                <c:ptCount val="4"/>
                <c:pt idx="0">
                  <c:v>1692</c:v>
                </c:pt>
                <c:pt idx="1">
                  <c:v>1687</c:v>
                </c:pt>
                <c:pt idx="2">
                  <c:v>1657</c:v>
                </c:pt>
                <c:pt idx="3">
                  <c:v>1593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B1-4556-9650-F2E9C56DEB0B}"/>
            </c:ext>
          </c:extLst>
        </c:ser>
        <c:ser>
          <c:idx val="2"/>
          <c:order val="2"/>
          <c:tx>
            <c:strRef>
              <c:f>Лист1!$D$3:$D$4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pattFill prst="narHorz">
              <a:fgClr>
                <a:schemeClr val="accent3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3"/>
              </a:innerShdw>
            </a:effectLst>
          </c:spPr>
          <c:invertIfNegative val="0"/>
          <c:cat>
            <c:strRef>
              <c:f>Лист1!$A$5:$A$9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Лист1!$D$5:$D$9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1388</c:v>
                </c:pt>
                <c:pt idx="3">
                  <c:v>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B1-4556-9650-F2E9C56DEB0B}"/>
            </c:ext>
          </c:extLst>
        </c:ser>
        <c:ser>
          <c:idx val="3"/>
          <c:order val="3"/>
          <c:tx>
            <c:strRef>
              <c:f>Лист1!$E$3:$E$4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pattFill prst="narHorz">
              <a:fgClr>
                <a:schemeClr val="accent4"/>
              </a:fgClr>
              <a:bgClr>
                <a:schemeClr val="accent4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4"/>
              </a:innerShdw>
            </a:effectLst>
          </c:spPr>
          <c:invertIfNegative val="0"/>
          <c:cat>
            <c:strRef>
              <c:f>Лист1!$A$5:$A$9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Лист1!$E$5:$E$9</c:f>
              <c:numCache>
                <c:formatCode>General</c:formatCode>
                <c:ptCount val="4"/>
                <c:pt idx="0">
                  <c:v>855</c:v>
                </c:pt>
                <c:pt idx="1">
                  <c:v>910</c:v>
                </c:pt>
                <c:pt idx="2">
                  <c:v>227</c:v>
                </c:pt>
                <c:pt idx="3">
                  <c:v>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9B1-4556-9650-F2E9C56DEB0B}"/>
            </c:ext>
          </c:extLst>
        </c:ser>
        <c:ser>
          <c:idx val="4"/>
          <c:order val="4"/>
          <c:tx>
            <c:strRef>
              <c:f>Лист1!$F$3:$F$4</c:f>
              <c:strCache>
                <c:ptCount val="1"/>
                <c:pt idx="0">
                  <c:v>ул. Чертановская,  20к2</c:v>
                </c:pt>
              </c:strCache>
            </c:strRef>
          </c:tx>
          <c:spPr>
            <a:pattFill prst="narHorz">
              <a:fgClr>
                <a:schemeClr val="accent5"/>
              </a:fgClr>
              <a:bgClr>
                <a:schemeClr val="accent5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5"/>
              </a:innerShdw>
            </a:effectLst>
          </c:spPr>
          <c:invertIfNegative val="0"/>
          <c:cat>
            <c:strRef>
              <c:f>Лист1!$A$5:$A$9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Лист1!$F$5:$F$9</c:f>
              <c:numCache>
                <c:formatCode>General</c:formatCode>
                <c:ptCount val="4"/>
                <c:pt idx="2">
                  <c:v>1823</c:v>
                </c:pt>
                <c:pt idx="3">
                  <c:v>3172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9B1-4556-9650-F2E9C56DEB0B}"/>
            </c:ext>
          </c:extLst>
        </c:ser>
        <c:ser>
          <c:idx val="5"/>
          <c:order val="5"/>
          <c:tx>
            <c:strRef>
              <c:f>Лист1!$G$3:$G$4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pattFill prst="narHorz">
              <a:fgClr>
                <a:schemeClr val="accent6"/>
              </a:fgClr>
              <a:bgClr>
                <a:schemeClr val="accent6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6"/>
              </a:innerShdw>
            </a:effectLst>
          </c:spPr>
          <c:invertIfNegative val="0"/>
          <c:cat>
            <c:strRef>
              <c:f>Лист1!$A$5:$A$9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Лист1!$G$5:$G$9</c:f>
              <c:numCache>
                <c:formatCode>General</c:formatCode>
                <c:ptCount val="4"/>
                <c:pt idx="0">
                  <c:v>1119</c:v>
                </c:pt>
                <c:pt idx="1">
                  <c:v>1070</c:v>
                </c:pt>
                <c:pt idx="2">
                  <c:v>1079</c:v>
                </c:pt>
                <c:pt idx="3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9B1-4556-9650-F2E9C56DEB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766056847"/>
        <c:axId val="766056367"/>
      </c:barChart>
      <c:catAx>
        <c:axId val="766056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056367"/>
        <c:crosses val="autoZero"/>
        <c:auto val="1"/>
        <c:lblAlgn val="ctr"/>
        <c:lblOffset val="100"/>
        <c:noMultiLvlLbl val="0"/>
      </c:catAx>
      <c:valAx>
        <c:axId val="7660563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66056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639816149741847"/>
          <c:y val="0.27185605089956888"/>
          <c:w val="0.21421216714107916"/>
          <c:h val="0.627990559825658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06_11_47689443a3345b10.04011331transaction_list.xlsx]Лист3!Сводная таблица3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cap="all" spc="150" baseline="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Нагрузка на серверы</a:t>
            </a:r>
          </a:p>
        </c:rich>
      </c:tx>
      <c:layout>
        <c:manualLayout>
          <c:xMode val="edge"/>
          <c:yMode val="edge"/>
          <c:x val="0.28755142462862243"/>
          <c:y val="3.436426116838487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cap="all" spc="150" baseline="0">
              <a:solidFill>
                <a:prstClr val="black">
                  <a:lumMod val="50000"/>
                  <a:lumOff val="50000"/>
                </a:prst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Лист3!$B$3:$B$4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Лист3!$A$5:$A$9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Лист3!$B$5:$B$9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1306</c:v>
                </c:pt>
                <c:pt idx="3">
                  <c:v>1329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BD-4379-905A-C9B86739193A}"/>
            </c:ext>
          </c:extLst>
        </c:ser>
        <c:ser>
          <c:idx val="1"/>
          <c:order val="1"/>
          <c:tx>
            <c:strRef>
              <c:f>Лист3!$C$3:$C$4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Лист3!$A$5:$A$9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Лист3!$C$5:$C$9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BD-4379-905A-C9B86739193A}"/>
            </c:ext>
          </c:extLst>
        </c:ser>
        <c:ser>
          <c:idx val="2"/>
          <c:order val="2"/>
          <c:tx>
            <c:strRef>
              <c:f>Лист3!$D$3:$D$4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Лист3!$A$5:$A$9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Лист3!$D$5:$D$9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3211</c:v>
                </c:pt>
                <c:pt idx="3">
                  <c:v>4498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BD-4379-905A-C9B8673919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950687"/>
        <c:axId val="1047951167"/>
      </c:lineChart>
      <c:catAx>
        <c:axId val="1047950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05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951167"/>
        <c:crosses val="autoZero"/>
        <c:auto val="1"/>
        <c:lblAlgn val="ctr"/>
        <c:lblOffset val="100"/>
        <c:noMultiLvlLbl val="0"/>
      </c:catAx>
      <c:valAx>
        <c:axId val="1047951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05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950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2316915863329618"/>
          <c:y val="0.4706182861162973"/>
          <c:w val="6.2397820320842026E-2"/>
          <c:h val="0.243214490127484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050" b="0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06_11_47689443a3345b10.04011331transaction_list.xlsx]Лист3!Сводная таблица4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2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2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Нагрузка на серверы после </a:t>
            </a:r>
            <a:r>
              <a:rPr lang="ru-RU" sz="1200" b="1" i="0" u="none" strike="noStrike" kern="1200" cap="all" spc="15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перепривязки</a:t>
            </a:r>
            <a:r>
              <a:rPr lang="ru-RU" sz="12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торговой точки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2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Лист3!$B$27:$B$28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Лист3!$A$29:$A$33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Лист3!$B$29:$B$33</c:f>
              <c:numCache>
                <c:formatCode>General</c:formatCode>
                <c:ptCount val="4"/>
                <c:pt idx="0">
                  <c:v>1974</c:v>
                </c:pt>
                <c:pt idx="1">
                  <c:v>1980</c:v>
                </c:pt>
                <c:pt idx="2">
                  <c:v>2694</c:v>
                </c:pt>
                <c:pt idx="3">
                  <c:v>2655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DD-4E51-A5A7-132FBEFA506A}"/>
            </c:ext>
          </c:extLst>
        </c:ser>
        <c:ser>
          <c:idx val="1"/>
          <c:order val="1"/>
          <c:tx>
            <c:strRef>
              <c:f>Лист3!$C$27:$C$28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Лист3!$A$29:$A$33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Лист3!$C$29:$C$33</c:f>
              <c:numCache>
                <c:formatCode>General</c:formatCode>
                <c:ptCount val="4"/>
                <c:pt idx="0">
                  <c:v>4467</c:v>
                </c:pt>
                <c:pt idx="1">
                  <c:v>4485</c:v>
                </c:pt>
                <c:pt idx="2">
                  <c:v>4272</c:v>
                </c:pt>
                <c:pt idx="3">
                  <c:v>4248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DD-4E51-A5A7-132FBEFA506A}"/>
            </c:ext>
          </c:extLst>
        </c:ser>
        <c:ser>
          <c:idx val="2"/>
          <c:order val="2"/>
          <c:tx>
            <c:strRef>
              <c:f>Лист3!$D$27:$D$28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Лист3!$A$29:$A$33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Лист3!$D$29:$D$33</c:f>
              <c:numCache>
                <c:formatCode>General</c:formatCode>
                <c:ptCount val="4"/>
                <c:pt idx="0">
                  <c:v>1408</c:v>
                </c:pt>
                <c:pt idx="1">
                  <c:v>1482</c:v>
                </c:pt>
                <c:pt idx="2">
                  <c:v>1823</c:v>
                </c:pt>
                <c:pt idx="3">
                  <c:v>3172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DD-4E51-A5A7-132FBEFA50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997727"/>
        <c:axId val="1047998207"/>
      </c:lineChart>
      <c:catAx>
        <c:axId val="1047997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0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998207"/>
        <c:crosses val="autoZero"/>
        <c:auto val="1"/>
        <c:lblAlgn val="ctr"/>
        <c:lblOffset val="100"/>
        <c:noMultiLvlLbl val="0"/>
      </c:catAx>
      <c:valAx>
        <c:axId val="1047998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997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304174579081965"/>
          <c:y val="0.4681852380660676"/>
          <c:w val="7.229000778649039E-2"/>
          <c:h val="0.25632850651298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1000" b="0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06_11_47689443a3345b10.04011331transaction_list.xlsx]Лист5!Сводная таблица6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200" b="1" i="0" u="none" strike="noStrike" kern="1200" cap="all" spc="15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Доли использования касс самообслуживания и обычных касс по ТТ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200" b="1" i="0" u="none" strike="noStrike" kern="1200" cap="all" spc="150" baseline="0">
              <a:solidFill>
                <a:prstClr val="black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8974821547247174E-2"/>
          <c:y val="0.16323979806665218"/>
          <c:w val="0.84318724226680963"/>
          <c:h val="0.481776279271431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Лист5!$B$3:$B$4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Лист5!$A$5:$A$11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Лист5!$B$5:$B$11</c:f>
              <c:numCache>
                <c:formatCode>General</c:formatCode>
                <c:ptCount val="6"/>
                <c:pt idx="0">
                  <c:v>9456</c:v>
                </c:pt>
                <c:pt idx="1">
                  <c:v>4868</c:v>
                </c:pt>
                <c:pt idx="2">
                  <c:v>5604</c:v>
                </c:pt>
                <c:pt idx="3">
                  <c:v>455</c:v>
                </c:pt>
                <c:pt idx="4">
                  <c:v>1255</c:v>
                </c:pt>
                <c:pt idx="5">
                  <c:v>3112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30-4319-BC93-3D23535E3F2C}"/>
            </c:ext>
          </c:extLst>
        </c:ser>
        <c:ser>
          <c:idx val="1"/>
          <c:order val="1"/>
          <c:tx>
            <c:strRef>
              <c:f>Лист5!$C$3:$C$4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Лист5!$A$5:$A$11</c:f>
              <c:strCache>
                <c:ptCount val="6"/>
                <c:pt idx="0">
                  <c:v>Ленинский пр-т, 162/1</c:v>
                </c:pt>
                <c:pt idx="1">
                  <c:v>пр-т Вернадского, 88к3</c:v>
                </c:pt>
                <c:pt idx="2">
                  <c:v>Ракетный б-р, 14к1</c:v>
                </c:pt>
                <c:pt idx="3">
                  <c:v>Симферопольский б-р, 22</c:v>
                </c:pt>
                <c:pt idx="4">
                  <c:v>ул. Чертановская,  20к2</c:v>
                </c:pt>
                <c:pt idx="5">
                  <c:v>ул. Щорса, 26/3</c:v>
                </c:pt>
              </c:strCache>
            </c:strRef>
          </c:cat>
          <c:val>
            <c:numRef>
              <c:f>Лист5!$C$5:$C$11</c:f>
              <c:numCache>
                <c:formatCode>General</c:formatCode>
                <c:ptCount val="6"/>
                <c:pt idx="0">
                  <c:v>1387</c:v>
                </c:pt>
                <c:pt idx="1">
                  <c:v>1761</c:v>
                </c:pt>
                <c:pt idx="3">
                  <c:v>1830</c:v>
                </c:pt>
                <c:pt idx="4">
                  <c:v>3740</c:v>
                </c:pt>
                <c:pt idx="5">
                  <c:v>1192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30-4319-BC93-3D23535E3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47151199"/>
        <c:axId val="1647160799"/>
      </c:barChart>
      <c:catAx>
        <c:axId val="1647151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8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7160799"/>
        <c:crosses val="autoZero"/>
        <c:auto val="1"/>
        <c:lblAlgn val="ctr"/>
        <c:lblOffset val="100"/>
        <c:noMultiLvlLbl val="0"/>
      </c:catAx>
      <c:valAx>
        <c:axId val="1647160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9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47151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06_11_47689443a3345b10.04011331transaction_list.xlsx]Лист5!Сводная таблица7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2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2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Доля использования касс самообслуживания по датам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2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Лист5!$B$14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Лист5!$A$15:$A$19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Лист5!$B$15:$B$19</c:f>
              <c:numCache>
                <c:formatCode>0.00%;\-0.00%;0.00%</c:formatCode>
                <c:ptCount val="4"/>
                <c:pt idx="0">
                  <c:v>0.23085743406803413</c:v>
                </c:pt>
                <c:pt idx="1">
                  <c:v>0.22876557191392979</c:v>
                </c:pt>
                <c:pt idx="2">
                  <c:v>0.30071680509728071</c:v>
                </c:pt>
                <c:pt idx="3">
                  <c:v>0.36099255583126549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85-4D4D-B38C-ADF23DDFBF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972287"/>
        <c:axId val="1047972767"/>
      </c:lineChart>
      <c:catAx>
        <c:axId val="1047972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9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972767"/>
        <c:crosses val="autoZero"/>
        <c:auto val="1"/>
        <c:lblAlgn val="ctr"/>
        <c:lblOffset val="100"/>
        <c:noMultiLvlLbl val="0"/>
      </c:catAx>
      <c:valAx>
        <c:axId val="1047972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;\-0%;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9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972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06_11_47689443a3345b10.04011331transaction_list.xlsx]Лист5!Сводная таблица8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200" b="1" i="0" u="none" strike="noStrike" kern="1200" cap="all" spc="15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ru-RU" sz="12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Средняя длительность операции на обычной кассе и кассе самообслуживания (сек.)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200" b="1" i="0" u="none" strike="noStrike" kern="1200" cap="all" spc="150" baseline="0">
              <a:solidFill>
                <a:prstClr val="black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664041994750654E-2"/>
              <c:y val="-8.33701516477107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664041994750654E-2"/>
              <c:y val="-8.33701516477107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6664041994750654E-2"/>
              <c:y val="-8.33701516477107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Лист5!$B$32</c:f>
              <c:strCache>
                <c:ptCount val="1"/>
                <c:pt idx="0">
                  <c:v>Итог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28B-46B8-958B-C245E1886E9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28B-46B8-958B-C245E1886E9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Лист5!$A$33:$A$34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Лист5!$B$33:$B$34</c:f>
              <c:numCache>
                <c:formatCode>0.0</c:formatCode>
                <c:ptCount val="2"/>
                <c:pt idx="0">
                  <c:v>70.666686108996245</c:v>
                </c:pt>
                <c:pt idx="1">
                  <c:v>154.55981943618428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28B-46B8-958B-C245E1886E9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06_11_47689443a3345b10.04011331transaction_list.xlsx]Лист5!Сводная таблица9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ru-RU" sz="14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Длительность операции по датам</a:t>
            </a:r>
          </a:p>
          <a:p>
            <a:pPr algn="ctr" rtl="0">
              <a:defRPr lang="ru-RU" b="1" cap="all" spc="150" dirty="0">
                <a:solidFill>
                  <a:schemeClr val="tx1"/>
                </a:solidFill>
              </a:defRPr>
            </a:pPr>
            <a:endParaRPr lang="ru-RU" sz="1400" b="1" i="0" u="none" strike="noStrike" kern="1200" cap="all" spc="1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ru-RU" sz="1400" b="1" i="0" u="none" strike="noStrike" kern="1200" cap="all" spc="150" baseline="0" dirty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Лист5!$B$38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Лист5!$A$39:$A$43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Лист5!$B$39:$B$43</c:f>
              <c:numCache>
                <c:formatCode>General</c:formatCode>
                <c:ptCount val="4"/>
                <c:pt idx="0">
                  <c:v>124.70721337497949</c:v>
                </c:pt>
                <c:pt idx="1">
                  <c:v>80.103562879249552</c:v>
                </c:pt>
                <c:pt idx="2">
                  <c:v>85.846029801290712</c:v>
                </c:pt>
                <c:pt idx="3">
                  <c:v>90.399762174202408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57-4C54-A3F8-46F1F199E6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65616015"/>
        <c:axId val="965611695"/>
      </c:lineChart>
      <c:catAx>
        <c:axId val="965616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9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5611695"/>
        <c:crosses val="autoZero"/>
        <c:auto val="1"/>
        <c:lblAlgn val="ctr"/>
        <c:lblOffset val="100"/>
        <c:noMultiLvlLbl val="0"/>
      </c:catAx>
      <c:valAx>
        <c:axId val="965611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9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5616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[15 05_00_49689ebf01e5e908.08205501transaction_list2.xlsx]Задача 01!Сводная таблица1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 marL="0" algn="ctr" defTabSz="914400" rtl="0" eaLnBrk="1" latinLnBrk="0" hangingPunct="1">
              <a:defRPr lang="ru-RU" sz="9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0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Влияние </a:t>
            </a:r>
            <a:r>
              <a:rPr lang="ru-RU" sz="1000" b="1" i="0" u="none" strike="noStrike" kern="1200" cap="all" spc="15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тех.сбоя</a:t>
            </a:r>
            <a:r>
              <a:rPr lang="ru-RU" sz="10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сервере 1 с 00:00 по 09:00 05.09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algn="ctr" defTabSz="914400" rtl="0" eaLnBrk="1" latinLnBrk="0" hangingPunct="1">
            <a:defRPr lang="ru-RU" sz="9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01'!$B$4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'Задача 01'!$A$5:$A$8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01'!$B$5:$B$8</c:f>
              <c:numCache>
                <c:formatCode>0.00</c:formatCode>
                <c:ptCount val="3"/>
                <c:pt idx="0">
                  <c:v>139.92796609547162</c:v>
                </c:pt>
                <c:pt idx="1">
                  <c:v>98.869090915445909</c:v>
                </c:pt>
                <c:pt idx="2">
                  <c:v>97.499005949665346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0E-4BD1-9FEA-0C3097535B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25336960"/>
        <c:axId val="491574096"/>
      </c:barChart>
      <c:lineChart>
        <c:grouping val="standard"/>
        <c:varyColors val="0"/>
        <c:ser>
          <c:idx val="1"/>
          <c:order val="1"/>
          <c:tx>
            <c:strRef>
              <c:f>'Задача 01'!$C$4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01'!$A$5:$A$8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01'!$C$5:$C$8</c:f>
              <c:numCache>
                <c:formatCode>General</c:formatCode>
                <c:ptCount val="3"/>
                <c:pt idx="0">
                  <c:v>472</c:v>
                </c:pt>
                <c:pt idx="1">
                  <c:v>550</c:v>
                </c:pt>
                <c:pt idx="2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0E-4BD1-9FEA-0C3097535B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1869392"/>
        <c:axId val="381869872"/>
      </c:lineChart>
      <c:catAx>
        <c:axId val="32533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91574096"/>
        <c:crosses val="autoZero"/>
        <c:auto val="1"/>
        <c:lblAlgn val="ctr"/>
        <c:lblOffset val="100"/>
        <c:noMultiLvlLbl val="0"/>
      </c:catAx>
      <c:valAx>
        <c:axId val="491574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5336960"/>
        <c:crosses val="autoZero"/>
        <c:crossBetween val="between"/>
      </c:valAx>
      <c:valAx>
        <c:axId val="3818698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1869392"/>
        <c:crosses val="max"/>
        <c:crossBetween val="between"/>
      </c:valAx>
      <c:catAx>
        <c:axId val="3818693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818698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[15 05_00_49689ebf01e5e908.08205501transaction_list2.xlsx]Задача 01!Сводная таблица2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0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0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Влияние </a:t>
            </a:r>
            <a:r>
              <a:rPr lang="ru-RU" sz="1000" b="1" i="0" u="none" strike="noStrike" kern="1200" cap="all" spc="15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тех.сбоя</a:t>
            </a:r>
            <a:r>
              <a:rPr lang="ru-RU" sz="10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 сервере 2 07.09 с 12:00-13:00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000" b="1" cap="all" spc="150">
                <a:solidFill>
                  <a:schemeClr val="tx1"/>
                </a:solidFill>
              </a:defRPr>
            </a:pPr>
            <a:endParaRPr lang="ru-RU" sz="1000" b="1" i="0" u="none" strike="noStrike" kern="1200" cap="all" spc="1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c:rich>
      </c:tx>
      <c:layout>
        <c:manualLayout>
          <c:xMode val="edge"/>
          <c:yMode val="edge"/>
          <c:x val="0.14498809647825875"/>
          <c:y val="3.06535357968531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0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01'!$B$21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01'!$A$22:$A$25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01'!$B$22:$B$25</c:f>
              <c:numCache>
                <c:formatCode>0.00</c:formatCode>
                <c:ptCount val="3"/>
                <c:pt idx="0">
                  <c:v>64.986666636541486</c:v>
                </c:pt>
                <c:pt idx="1">
                  <c:v>69.70238094259652</c:v>
                </c:pt>
                <c:pt idx="2">
                  <c:v>114.07432432421734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0-411E-A51C-8D6608B17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76423120"/>
        <c:axId val="376424560"/>
      </c:barChart>
      <c:lineChart>
        <c:grouping val="standard"/>
        <c:varyColors val="0"/>
        <c:ser>
          <c:idx val="1"/>
          <c:order val="1"/>
          <c:tx>
            <c:strRef>
              <c:f>'Задача 01'!$C$21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01'!$A$22:$A$25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01'!$C$22:$C$25</c:f>
              <c:numCache>
                <c:formatCode>General</c:formatCode>
                <c:ptCount val="3"/>
                <c:pt idx="0">
                  <c:v>150</c:v>
                </c:pt>
                <c:pt idx="1">
                  <c:v>168</c:v>
                </c:pt>
                <c:pt idx="2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A0-411E-A51C-8D6608B17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8195695"/>
        <c:axId val="1198206735"/>
      </c:lineChart>
      <c:catAx>
        <c:axId val="37642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6424560"/>
        <c:crosses val="autoZero"/>
        <c:auto val="1"/>
        <c:lblAlgn val="ctr"/>
        <c:lblOffset val="100"/>
        <c:noMultiLvlLbl val="0"/>
      </c:catAx>
      <c:valAx>
        <c:axId val="37642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6423120"/>
        <c:crosses val="autoZero"/>
        <c:crossBetween val="between"/>
      </c:valAx>
      <c:valAx>
        <c:axId val="119820673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8195695"/>
        <c:crosses val="max"/>
        <c:crossBetween val="between"/>
      </c:valAx>
      <c:catAx>
        <c:axId val="11981956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9820673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[15 05_00_49689ebf01e5e908.08205501transaction_list2.xlsx]Задача 01!Сводная таблица3</c:name>
    <c:fmtId val="7"/>
  </c:pivotSource>
  <c:chart>
    <c:title>
      <c:tx>
        <c:rich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0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0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Влияние </a:t>
            </a:r>
            <a:r>
              <a:rPr lang="ru-RU" sz="1000" b="1" i="0" u="none" strike="noStrike" kern="1200" cap="all" spc="15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тех.сбоя</a:t>
            </a:r>
            <a:r>
              <a:rPr lang="ru-RU" sz="10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 в течение дня 06.09.</a:t>
            </a:r>
          </a:p>
        </c:rich>
      </c:tx>
      <c:overlay val="0"/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ln w="28575" cap="rnd">
            <a:solidFill>
              <a:schemeClr val="accent1"/>
            </a:solidFill>
            <a:round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01'!$B$42</c:f>
              <c:strCache>
                <c:ptCount val="1"/>
                <c:pt idx="0">
                  <c:v>Среднее по полю len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01'!$A$43:$A$46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01'!$B$43:$B$46</c:f>
              <c:numCache>
                <c:formatCode>0.00</c:formatCode>
                <c:ptCount val="3"/>
                <c:pt idx="0">
                  <c:v>207.90849670986918</c:v>
                </c:pt>
                <c:pt idx="1">
                  <c:v>230.29468595860121</c:v>
                </c:pt>
                <c:pt idx="2">
                  <c:v>186.33333329583846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65-4900-AC55-B9F4287948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6423120"/>
        <c:axId val="376424560"/>
      </c:barChart>
      <c:lineChart>
        <c:grouping val="standard"/>
        <c:varyColors val="0"/>
        <c:ser>
          <c:idx val="1"/>
          <c:order val="1"/>
          <c:tx>
            <c:strRef>
              <c:f>'Задача 01'!$C$42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01'!$A$43:$A$46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01'!$C$43:$C$46</c:f>
              <c:numCache>
                <c:formatCode>General</c:formatCode>
                <c:ptCount val="3"/>
                <c:pt idx="0">
                  <c:v>153</c:v>
                </c:pt>
                <c:pt idx="1">
                  <c:v>207</c:v>
                </c:pt>
                <c:pt idx="2">
                  <c:v>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65-4900-AC55-B9F4287948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7776064"/>
        <c:axId val="397775584"/>
      </c:lineChart>
      <c:catAx>
        <c:axId val="37642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6424560"/>
        <c:crosses val="autoZero"/>
        <c:auto val="1"/>
        <c:lblAlgn val="ctr"/>
        <c:lblOffset val="100"/>
        <c:noMultiLvlLbl val="0"/>
      </c:catAx>
      <c:valAx>
        <c:axId val="37642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6423120"/>
        <c:crosses val="autoZero"/>
        <c:crossBetween val="between"/>
      </c:valAx>
      <c:valAx>
        <c:axId val="3977755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97776064"/>
        <c:crosses val="max"/>
        <c:crossBetween val="between"/>
      </c:valAx>
      <c:catAx>
        <c:axId val="3977760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97775584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  <c:extLst/>
  </c:chart>
  <c:txPr>
    <a:bodyPr/>
    <a:lstStyle/>
    <a:p>
      <a:pPr>
        <a:defRPr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[15 05_00_49689ebf01e5e908.08205501transaction_list2.xlsx]Задача 02!Сводная таблица4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0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0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Влияние акции на количество транзакций и средний чек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0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02'!$B$3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02'!$A$4:$A$7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02'!$B$4:$B$7</c:f>
              <c:numCache>
                <c:formatCode>General</c:formatCode>
                <c:ptCount val="3"/>
                <c:pt idx="0">
                  <c:v>3388</c:v>
                </c:pt>
                <c:pt idx="1">
                  <c:v>3474</c:v>
                </c:pt>
                <c:pt idx="2">
                  <c:v>3415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2A-495F-B4F5-B7982F913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4501840"/>
        <c:axId val="504499440"/>
      </c:barChart>
      <c:lineChart>
        <c:grouping val="standard"/>
        <c:varyColors val="0"/>
        <c:ser>
          <c:idx val="1"/>
          <c:order val="1"/>
          <c:tx>
            <c:strRef>
              <c:f>'Задача 02'!$C$3</c:f>
              <c:strCache>
                <c:ptCount val="1"/>
                <c:pt idx="0">
                  <c:v>Среднее по полю sum_payment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02'!$A$4:$A$7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02'!$C$4:$C$7</c:f>
              <c:numCache>
                <c:formatCode>#\ ##0\ "₽"</c:formatCode>
                <c:ptCount val="3"/>
                <c:pt idx="0">
                  <c:v>18458.94598583235</c:v>
                </c:pt>
                <c:pt idx="1">
                  <c:v>18401.787852619458</c:v>
                </c:pt>
                <c:pt idx="2">
                  <c:v>19914.488140556368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2A-495F-B4F5-B7982F913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4639616"/>
        <c:axId val="504502320"/>
      </c:lineChart>
      <c:catAx>
        <c:axId val="504501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04499440"/>
        <c:crosses val="autoZero"/>
        <c:auto val="1"/>
        <c:lblAlgn val="ctr"/>
        <c:lblOffset val="100"/>
        <c:noMultiLvlLbl val="0"/>
      </c:catAx>
      <c:valAx>
        <c:axId val="504499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90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04501840"/>
        <c:crosses val="autoZero"/>
        <c:crossBetween val="between"/>
      </c:valAx>
      <c:valAx>
        <c:axId val="504502320"/>
        <c:scaling>
          <c:orientation val="minMax"/>
        </c:scaling>
        <c:delete val="0"/>
        <c:axPos val="r"/>
        <c:numFmt formatCode="#\ ##0\ &quot;₽&quot;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4639616"/>
        <c:crosses val="max"/>
        <c:crossBetween val="between"/>
      </c:valAx>
      <c:catAx>
        <c:axId val="4146396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045023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0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0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Прибыль от проведения акции и затраты на нее</a:t>
            </a:r>
          </a:p>
        </c:rich>
      </c:tx>
      <c:layout>
        <c:manualLayout>
          <c:xMode val="edge"/>
          <c:yMode val="edge"/>
          <c:x val="0.1850415998812352"/>
          <c:y val="2.69360228553214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0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'Задача 02'!$A$17</c:f>
              <c:strCache>
                <c:ptCount val="1"/>
                <c:pt idx="0">
                  <c:v>Косты итого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900" b="0" i="0" u="none" strike="noStrike" kern="1200" cap="all" spc="1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'Задача 02'!$B$17</c:f>
              <c:numCache>
                <c:formatCode>#\ ##0.00\ "₽"</c:formatCode>
                <c:ptCount val="1"/>
                <c:pt idx="0">
                  <c:v>2418500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22-43EC-B4DA-AAD98FA917B9}"/>
            </c:ext>
          </c:extLst>
        </c:ser>
        <c:ser>
          <c:idx val="1"/>
          <c:order val="1"/>
          <c:tx>
            <c:strRef>
              <c:f>'Задача 02'!$A$19</c:f>
              <c:strCache>
                <c:ptCount val="1"/>
                <c:pt idx="0">
                  <c:v>Прибыль от проведения акции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900" b="0" i="0" u="none" strike="noStrike" kern="1200" cap="all" spc="1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'Задача 02'!$B$19</c:f>
              <c:numCache>
                <c:formatCode>#\ ##0.00\ "₽"</c:formatCode>
                <c:ptCount val="1"/>
                <c:pt idx="0">
                  <c:v>2650997.1399009051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22-43EC-B4DA-AAD98FA917B9}"/>
            </c:ext>
          </c:extLst>
        </c:ser>
        <c:ser>
          <c:idx val="2"/>
          <c:order val="2"/>
          <c:tx>
            <c:strRef>
              <c:f>'Задача 02'!$E$6</c:f>
              <c:strCache>
                <c:ptCount val="1"/>
                <c:pt idx="0">
                  <c:v>Прирост выручки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900" b="0" i="0" u="none" strike="noStrike" kern="1200" cap="all" spc="15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'Задача 02'!$F$6</c:f>
              <c:numCache>
                <c:formatCode>#\ ##0.00\ "₽"</c:formatCode>
                <c:ptCount val="1"/>
                <c:pt idx="0">
                  <c:v>5069497.1399009051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322-43EC-B4DA-AAD98FA917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80930496"/>
        <c:axId val="380930976"/>
      </c:barChart>
      <c:catAx>
        <c:axId val="38093049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0930976"/>
        <c:crosses val="autoZero"/>
        <c:auto val="1"/>
        <c:lblAlgn val="ctr"/>
        <c:lblOffset val="100"/>
        <c:noMultiLvlLbl val="0"/>
      </c:catAx>
      <c:valAx>
        <c:axId val="3809309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.0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0930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06_11_47689443a3345b10.04011331transaction_list.xlsx]Лист2!Сводная таблица1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0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Длительность операций по торговым точкам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0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4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5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4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5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4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5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Лист2!$B$3:$B$4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38100" cap="flat" cmpd="dbl" algn="ctr">
              <a:solidFill>
                <a:schemeClr val="accent1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Лист2!$B$5:$B$28</c:f>
              <c:numCache>
                <c:formatCode>0.00</c:formatCode>
                <c:ptCount val="24"/>
                <c:pt idx="0">
                  <c:v>75.395693813505417</c:v>
                </c:pt>
                <c:pt idx="1">
                  <c:v>63.803369537015094</c:v>
                </c:pt>
                <c:pt idx="2">
                  <c:v>64.302538320128065</c:v>
                </c:pt>
                <c:pt idx="3">
                  <c:v>73.825465878638042</c:v>
                </c:pt>
                <c:pt idx="4">
                  <c:v>77.495481276207343</c:v>
                </c:pt>
                <c:pt idx="5">
                  <c:v>70.93505214408809</c:v>
                </c:pt>
                <c:pt idx="6">
                  <c:v>64.32266108400654</c:v>
                </c:pt>
                <c:pt idx="7">
                  <c:v>72.744772363895251</c:v>
                </c:pt>
                <c:pt idx="8">
                  <c:v>75.836212983211652</c:v>
                </c:pt>
                <c:pt idx="9">
                  <c:v>72.093852642124062</c:v>
                </c:pt>
                <c:pt idx="10">
                  <c:v>74.246592381361708</c:v>
                </c:pt>
                <c:pt idx="11">
                  <c:v>166.0814692533867</c:v>
                </c:pt>
                <c:pt idx="12">
                  <c:v>169.63459274265915</c:v>
                </c:pt>
                <c:pt idx="13">
                  <c:v>161.19862416597579</c:v>
                </c:pt>
                <c:pt idx="14">
                  <c:v>156.1355107259827</c:v>
                </c:pt>
                <c:pt idx="15">
                  <c:v>159.06993045640939</c:v>
                </c:pt>
                <c:pt idx="16">
                  <c:v>68.654513563466281</c:v>
                </c:pt>
                <c:pt idx="17">
                  <c:v>69.996400116551143</c:v>
                </c:pt>
                <c:pt idx="18">
                  <c:v>78.990293901342042</c:v>
                </c:pt>
                <c:pt idx="19">
                  <c:v>82.032843651885003</c:v>
                </c:pt>
                <c:pt idx="20">
                  <c:v>84.799599664677913</c:v>
                </c:pt>
                <c:pt idx="21">
                  <c:v>74.605752171303791</c:v>
                </c:pt>
                <c:pt idx="22">
                  <c:v>65.935049111604556</c:v>
                </c:pt>
                <c:pt idx="23">
                  <c:v>78.353372954434775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CE-4474-B308-0E3CA8D6A6DA}"/>
            </c:ext>
          </c:extLst>
        </c:ser>
        <c:ser>
          <c:idx val="1"/>
          <c:order val="1"/>
          <c:tx>
            <c:strRef>
              <c:f>Лист2!$C$3:$C$4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38100" cap="flat" cmpd="dbl" algn="ctr">
              <a:solidFill>
                <a:schemeClr val="accent2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Лист2!$C$5:$C$28</c:f>
              <c:numCache>
                <c:formatCode>0.00</c:formatCode>
                <c:ptCount val="24"/>
                <c:pt idx="0">
                  <c:v>107.49582496272134</c:v>
                </c:pt>
                <c:pt idx="1">
                  <c:v>124.21704964204268</c:v>
                </c:pt>
                <c:pt idx="2">
                  <c:v>115.94877371956643</c:v>
                </c:pt>
                <c:pt idx="3">
                  <c:v>117.15483950078487</c:v>
                </c:pt>
                <c:pt idx="4">
                  <c:v>107.61570963252969</c:v>
                </c:pt>
                <c:pt idx="5">
                  <c:v>107.16517550356097</c:v>
                </c:pt>
                <c:pt idx="6">
                  <c:v>113.95561235612664</c:v>
                </c:pt>
                <c:pt idx="7">
                  <c:v>112.12564257333393</c:v>
                </c:pt>
                <c:pt idx="8">
                  <c:v>120.5230783858061</c:v>
                </c:pt>
                <c:pt idx="9">
                  <c:v>109.85963646697797</c:v>
                </c:pt>
                <c:pt idx="10">
                  <c:v>97.629621258128509</c:v>
                </c:pt>
                <c:pt idx="11">
                  <c:v>151.87495674239472</c:v>
                </c:pt>
                <c:pt idx="12">
                  <c:v>155.7312388562739</c:v>
                </c:pt>
                <c:pt idx="13">
                  <c:v>164.51194040791327</c:v>
                </c:pt>
                <c:pt idx="14">
                  <c:v>152.39455179096416</c:v>
                </c:pt>
                <c:pt idx="15">
                  <c:v>162.37560112494975</c:v>
                </c:pt>
                <c:pt idx="16">
                  <c:v>108.80381082103628</c:v>
                </c:pt>
                <c:pt idx="17">
                  <c:v>99.361860015514225</c:v>
                </c:pt>
                <c:pt idx="18">
                  <c:v>98.405670970320131</c:v>
                </c:pt>
                <c:pt idx="19">
                  <c:v>122.04666592726043</c:v>
                </c:pt>
                <c:pt idx="20">
                  <c:v>105.12338564035713</c:v>
                </c:pt>
                <c:pt idx="21">
                  <c:v>104.6946665501668</c:v>
                </c:pt>
                <c:pt idx="22">
                  <c:v>96.848222420085222</c:v>
                </c:pt>
                <c:pt idx="23">
                  <c:v>112.39395128696093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CE-4474-B308-0E3CA8D6A6DA}"/>
            </c:ext>
          </c:extLst>
        </c:ser>
        <c:ser>
          <c:idx val="2"/>
          <c:order val="2"/>
          <c:tx>
            <c:strRef>
              <c:f>Лист2!$D$3:$D$4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38100" cap="flat" cmpd="dbl" algn="ctr">
              <a:solidFill>
                <a:schemeClr val="accent3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3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Лист2!$D$5:$D$28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DCE-4474-B308-0E3CA8D6A6DA}"/>
            </c:ext>
          </c:extLst>
        </c:ser>
        <c:ser>
          <c:idx val="3"/>
          <c:order val="3"/>
          <c:tx>
            <c:strRef>
              <c:f>Лист2!$E$3:$E$4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38100" cap="flat" cmpd="dbl" algn="ctr">
              <a:solidFill>
                <a:schemeClr val="accent4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Лист2!$E$5:$E$28</c:f>
              <c:numCache>
                <c:formatCode>0.00</c:formatCode>
                <c:ptCount val="24"/>
                <c:pt idx="0">
                  <c:v>220.62057200819254</c:v>
                </c:pt>
                <c:pt idx="1">
                  <c:v>204.96410390761281</c:v>
                </c:pt>
                <c:pt idx="2">
                  <c:v>221.36091590106773</c:v>
                </c:pt>
                <c:pt idx="3">
                  <c:v>197.45958196165572</c:v>
                </c:pt>
                <c:pt idx="4">
                  <c:v>224.71267680735573</c:v>
                </c:pt>
                <c:pt idx="5">
                  <c:v>195.20977961186034</c:v>
                </c:pt>
                <c:pt idx="6">
                  <c:v>219.13856745609459</c:v>
                </c:pt>
                <c:pt idx="7">
                  <c:v>215.82051226403564</c:v>
                </c:pt>
                <c:pt idx="8">
                  <c:v>227.35399767689938</c:v>
                </c:pt>
                <c:pt idx="9">
                  <c:v>212.47934923241181</c:v>
                </c:pt>
                <c:pt idx="10">
                  <c:v>216.63862868603744</c:v>
                </c:pt>
                <c:pt idx="11">
                  <c:v>228.1377139716642</c:v>
                </c:pt>
                <c:pt idx="12">
                  <c:v>212.38955941728571</c:v>
                </c:pt>
                <c:pt idx="13">
                  <c:v>243.28885256778449</c:v>
                </c:pt>
                <c:pt idx="14">
                  <c:v>223.62056859260932</c:v>
                </c:pt>
                <c:pt idx="15">
                  <c:v>226.06843373909288</c:v>
                </c:pt>
                <c:pt idx="16">
                  <c:v>227.82689876330551</c:v>
                </c:pt>
                <c:pt idx="17">
                  <c:v>224.22886722820945</c:v>
                </c:pt>
                <c:pt idx="18">
                  <c:v>206.21106439809265</c:v>
                </c:pt>
                <c:pt idx="19">
                  <c:v>185.70843723602593</c:v>
                </c:pt>
                <c:pt idx="20">
                  <c:v>213.54483874336651</c:v>
                </c:pt>
                <c:pt idx="21">
                  <c:v>240.09581529335784</c:v>
                </c:pt>
                <c:pt idx="22">
                  <c:v>223.10670610517263</c:v>
                </c:pt>
                <c:pt idx="23">
                  <c:v>236.15579103352502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DCE-4474-B308-0E3CA8D6A6DA}"/>
            </c:ext>
          </c:extLst>
        </c:ser>
        <c:ser>
          <c:idx val="4"/>
          <c:order val="4"/>
          <c:tx>
            <c:strRef>
              <c:f>Лист2!$F$3:$F$4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38100" cap="flat" cmpd="dbl" algn="ctr">
              <a:solidFill>
                <a:schemeClr val="accent5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5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Лист2!$F$5:$F$28</c:f>
              <c:numCache>
                <c:formatCode>0.00</c:formatCode>
                <c:ptCount val="24"/>
                <c:pt idx="0">
                  <c:v>144.2157665317479</c:v>
                </c:pt>
                <c:pt idx="1">
                  <c:v>126.90396837831941</c:v>
                </c:pt>
                <c:pt idx="2">
                  <c:v>128.80592484725639</c:v>
                </c:pt>
                <c:pt idx="3">
                  <c:v>257.67098882206483</c:v>
                </c:pt>
                <c:pt idx="4">
                  <c:v>183.63044598781681</c:v>
                </c:pt>
                <c:pt idx="5">
                  <c:v>287.76392666331958</c:v>
                </c:pt>
                <c:pt idx="6">
                  <c:v>218.7712519130898</c:v>
                </c:pt>
                <c:pt idx="7">
                  <c:v>138.80676475058937</c:v>
                </c:pt>
                <c:pt idx="8">
                  <c:v>147.88707348983735</c:v>
                </c:pt>
                <c:pt idx="9">
                  <c:v>148.67805009707808</c:v>
                </c:pt>
                <c:pt idx="10">
                  <c:v>143.25941399005907</c:v>
                </c:pt>
                <c:pt idx="11">
                  <c:v>131.28065239516613</c:v>
                </c:pt>
                <c:pt idx="12">
                  <c:v>138.66500442428514</c:v>
                </c:pt>
                <c:pt idx="13">
                  <c:v>136.430150891674</c:v>
                </c:pt>
                <c:pt idx="14">
                  <c:v>136.04584586994841</c:v>
                </c:pt>
                <c:pt idx="15">
                  <c:v>134.5910629822298</c:v>
                </c:pt>
                <c:pt idx="16">
                  <c:v>155.28822427382693</c:v>
                </c:pt>
                <c:pt idx="17">
                  <c:v>136.43725179426838</c:v>
                </c:pt>
                <c:pt idx="18">
                  <c:v>157.17893237914805</c:v>
                </c:pt>
                <c:pt idx="19">
                  <c:v>127.99031683654688</c:v>
                </c:pt>
                <c:pt idx="20">
                  <c:v>168.69327854972494</c:v>
                </c:pt>
                <c:pt idx="21">
                  <c:v>146.66882445177944</c:v>
                </c:pt>
                <c:pt idx="22">
                  <c:v>165.48762260254745</c:v>
                </c:pt>
                <c:pt idx="23">
                  <c:v>155.28277886280028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DCE-4474-B308-0E3CA8D6A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6338448"/>
        <c:axId val="916338928"/>
      </c:lineChart>
      <c:catAx>
        <c:axId val="916338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6338928"/>
        <c:crosses val="autoZero"/>
        <c:auto val="1"/>
        <c:lblAlgn val="ctr"/>
        <c:lblOffset val="100"/>
        <c:noMultiLvlLbl val="0"/>
      </c:catAx>
      <c:valAx>
        <c:axId val="916338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6338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06_11_47689443a3345b10.04011331transaction_list.xlsx]Лист2!Сводная таблица4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0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Количество транзакций по ТТ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0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4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5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4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5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4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5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Лист2!$I$3:$I$4</c:f>
              <c:strCache>
                <c:ptCount val="1"/>
                <c:pt idx="0">
                  <c:v>Ленинский пр-т, 162/1</c:v>
                </c:pt>
              </c:strCache>
            </c:strRef>
          </c:tx>
          <c:spPr>
            <a:ln w="38100" cap="flat" cmpd="dbl" algn="ctr">
              <a:solidFill>
                <a:schemeClr val="accent1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Лист2!$H$5:$H$29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Лист2!$I$5:$I$29</c:f>
              <c:numCache>
                <c:formatCode>General</c:formatCode>
                <c:ptCount val="24"/>
                <c:pt idx="0">
                  <c:v>119</c:v>
                </c:pt>
                <c:pt idx="1">
                  <c:v>97</c:v>
                </c:pt>
                <c:pt idx="2">
                  <c:v>95</c:v>
                </c:pt>
                <c:pt idx="3">
                  <c:v>84</c:v>
                </c:pt>
                <c:pt idx="4">
                  <c:v>110</c:v>
                </c:pt>
                <c:pt idx="5">
                  <c:v>92</c:v>
                </c:pt>
                <c:pt idx="6">
                  <c:v>120</c:v>
                </c:pt>
                <c:pt idx="7">
                  <c:v>114</c:v>
                </c:pt>
                <c:pt idx="8">
                  <c:v>117</c:v>
                </c:pt>
                <c:pt idx="9">
                  <c:v>106</c:v>
                </c:pt>
                <c:pt idx="10">
                  <c:v>115</c:v>
                </c:pt>
                <c:pt idx="11">
                  <c:v>134</c:v>
                </c:pt>
                <c:pt idx="12">
                  <c:v>120</c:v>
                </c:pt>
                <c:pt idx="13">
                  <c:v>147</c:v>
                </c:pt>
                <c:pt idx="14">
                  <c:v>170</c:v>
                </c:pt>
                <c:pt idx="15">
                  <c:v>165</c:v>
                </c:pt>
                <c:pt idx="16">
                  <c:v>113</c:v>
                </c:pt>
                <c:pt idx="17">
                  <c:v>107</c:v>
                </c:pt>
                <c:pt idx="18">
                  <c:v>117</c:v>
                </c:pt>
                <c:pt idx="19">
                  <c:v>110</c:v>
                </c:pt>
                <c:pt idx="20">
                  <c:v>95</c:v>
                </c:pt>
                <c:pt idx="21">
                  <c:v>117</c:v>
                </c:pt>
                <c:pt idx="22">
                  <c:v>109</c:v>
                </c:pt>
                <c:pt idx="23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35-499B-9453-2AEBFEF66D74}"/>
            </c:ext>
          </c:extLst>
        </c:ser>
        <c:ser>
          <c:idx val="1"/>
          <c:order val="1"/>
          <c:tx>
            <c:strRef>
              <c:f>Лист2!$J$3:$J$4</c:f>
              <c:strCache>
                <c:ptCount val="1"/>
                <c:pt idx="0">
                  <c:v>пр-т Вернадского, 88к3</c:v>
                </c:pt>
              </c:strCache>
            </c:strRef>
          </c:tx>
          <c:spPr>
            <a:ln w="38100" cap="flat" cmpd="dbl" algn="ctr">
              <a:solidFill>
                <a:schemeClr val="accent2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Лист2!$H$5:$H$29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Лист2!$J$5:$J$29</c:f>
              <c:numCache>
                <c:formatCode>General</c:formatCode>
                <c:ptCount val="24"/>
                <c:pt idx="0">
                  <c:v>63</c:v>
                </c:pt>
                <c:pt idx="1">
                  <c:v>66</c:v>
                </c:pt>
                <c:pt idx="2">
                  <c:v>57</c:v>
                </c:pt>
                <c:pt idx="3">
                  <c:v>50</c:v>
                </c:pt>
                <c:pt idx="4">
                  <c:v>53</c:v>
                </c:pt>
                <c:pt idx="5">
                  <c:v>57</c:v>
                </c:pt>
                <c:pt idx="6">
                  <c:v>69</c:v>
                </c:pt>
                <c:pt idx="7">
                  <c:v>66</c:v>
                </c:pt>
                <c:pt idx="8">
                  <c:v>71</c:v>
                </c:pt>
                <c:pt idx="9">
                  <c:v>67</c:v>
                </c:pt>
                <c:pt idx="10">
                  <c:v>53</c:v>
                </c:pt>
                <c:pt idx="11">
                  <c:v>90</c:v>
                </c:pt>
                <c:pt idx="12">
                  <c:v>92</c:v>
                </c:pt>
                <c:pt idx="13">
                  <c:v>86</c:v>
                </c:pt>
                <c:pt idx="14">
                  <c:v>78</c:v>
                </c:pt>
                <c:pt idx="15">
                  <c:v>90</c:v>
                </c:pt>
                <c:pt idx="16">
                  <c:v>69</c:v>
                </c:pt>
                <c:pt idx="17">
                  <c:v>66</c:v>
                </c:pt>
                <c:pt idx="18">
                  <c:v>65</c:v>
                </c:pt>
                <c:pt idx="19">
                  <c:v>76</c:v>
                </c:pt>
                <c:pt idx="20">
                  <c:v>77</c:v>
                </c:pt>
                <c:pt idx="21">
                  <c:v>71</c:v>
                </c:pt>
                <c:pt idx="22">
                  <c:v>90</c:v>
                </c:pt>
                <c:pt idx="23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35-499B-9453-2AEBFEF66D74}"/>
            </c:ext>
          </c:extLst>
        </c:ser>
        <c:ser>
          <c:idx val="2"/>
          <c:order val="2"/>
          <c:tx>
            <c:strRef>
              <c:f>Лист2!$K$3:$K$4</c:f>
              <c:strCache>
                <c:ptCount val="1"/>
                <c:pt idx="0">
                  <c:v>Ракетный б-р, 14к1</c:v>
                </c:pt>
              </c:strCache>
            </c:strRef>
          </c:tx>
          <c:spPr>
            <a:ln w="38100" cap="flat" cmpd="dbl" algn="ctr">
              <a:solidFill>
                <a:schemeClr val="accent3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3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Лист2!$H$5:$H$29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Лист2!$K$5:$K$29</c:f>
              <c:numCache>
                <c:formatCode>General</c:formatCode>
                <c:ptCount val="24"/>
                <c:pt idx="0">
                  <c:v>49</c:v>
                </c:pt>
                <c:pt idx="1">
                  <c:v>74</c:v>
                </c:pt>
                <c:pt idx="2">
                  <c:v>54</c:v>
                </c:pt>
                <c:pt idx="3">
                  <c:v>49</c:v>
                </c:pt>
                <c:pt idx="4">
                  <c:v>51</c:v>
                </c:pt>
                <c:pt idx="5">
                  <c:v>51</c:v>
                </c:pt>
                <c:pt idx="6">
                  <c:v>53</c:v>
                </c:pt>
                <c:pt idx="7">
                  <c:v>55</c:v>
                </c:pt>
                <c:pt idx="8">
                  <c:v>63</c:v>
                </c:pt>
                <c:pt idx="9">
                  <c:v>57</c:v>
                </c:pt>
                <c:pt idx="10">
                  <c:v>64</c:v>
                </c:pt>
                <c:pt idx="11">
                  <c:v>72</c:v>
                </c:pt>
                <c:pt idx="12">
                  <c:v>60</c:v>
                </c:pt>
                <c:pt idx="13">
                  <c:v>51</c:v>
                </c:pt>
                <c:pt idx="14">
                  <c:v>65</c:v>
                </c:pt>
                <c:pt idx="15">
                  <c:v>62</c:v>
                </c:pt>
                <c:pt idx="16">
                  <c:v>53</c:v>
                </c:pt>
                <c:pt idx="17">
                  <c:v>52</c:v>
                </c:pt>
                <c:pt idx="18">
                  <c:v>58</c:v>
                </c:pt>
                <c:pt idx="19">
                  <c:v>58</c:v>
                </c:pt>
                <c:pt idx="20">
                  <c:v>64</c:v>
                </c:pt>
                <c:pt idx="21">
                  <c:v>61</c:v>
                </c:pt>
                <c:pt idx="22">
                  <c:v>74</c:v>
                </c:pt>
                <c:pt idx="23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435-499B-9453-2AEBFEF66D74}"/>
            </c:ext>
          </c:extLst>
        </c:ser>
        <c:ser>
          <c:idx val="3"/>
          <c:order val="3"/>
          <c:tx>
            <c:strRef>
              <c:f>Лист2!$L$3:$L$4</c:f>
              <c:strCache>
                <c:ptCount val="1"/>
                <c:pt idx="0">
                  <c:v>Симферопольский б-р, 22</c:v>
                </c:pt>
              </c:strCache>
            </c:strRef>
          </c:tx>
          <c:spPr>
            <a:ln w="38100" cap="flat" cmpd="dbl" algn="ctr">
              <a:solidFill>
                <a:schemeClr val="accent4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Лист2!$H$5:$H$29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Лист2!$L$5:$L$29</c:f>
              <c:numCache>
                <c:formatCode>General</c:formatCode>
                <c:ptCount val="24"/>
                <c:pt idx="0">
                  <c:v>27</c:v>
                </c:pt>
                <c:pt idx="1">
                  <c:v>35</c:v>
                </c:pt>
                <c:pt idx="2">
                  <c:v>26</c:v>
                </c:pt>
                <c:pt idx="3">
                  <c:v>28</c:v>
                </c:pt>
                <c:pt idx="4">
                  <c:v>38</c:v>
                </c:pt>
                <c:pt idx="5">
                  <c:v>26</c:v>
                </c:pt>
                <c:pt idx="6">
                  <c:v>37</c:v>
                </c:pt>
                <c:pt idx="7">
                  <c:v>30</c:v>
                </c:pt>
                <c:pt idx="8">
                  <c:v>35</c:v>
                </c:pt>
                <c:pt idx="9">
                  <c:v>35</c:v>
                </c:pt>
                <c:pt idx="10">
                  <c:v>44</c:v>
                </c:pt>
                <c:pt idx="11">
                  <c:v>40</c:v>
                </c:pt>
                <c:pt idx="12">
                  <c:v>33</c:v>
                </c:pt>
                <c:pt idx="13">
                  <c:v>45</c:v>
                </c:pt>
                <c:pt idx="14">
                  <c:v>33</c:v>
                </c:pt>
                <c:pt idx="15">
                  <c:v>49</c:v>
                </c:pt>
                <c:pt idx="16">
                  <c:v>32</c:v>
                </c:pt>
                <c:pt idx="17">
                  <c:v>42</c:v>
                </c:pt>
                <c:pt idx="18">
                  <c:v>38</c:v>
                </c:pt>
                <c:pt idx="19">
                  <c:v>30</c:v>
                </c:pt>
                <c:pt idx="20">
                  <c:v>34</c:v>
                </c:pt>
                <c:pt idx="21">
                  <c:v>35</c:v>
                </c:pt>
                <c:pt idx="22">
                  <c:v>45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35-499B-9453-2AEBFEF66D74}"/>
            </c:ext>
          </c:extLst>
        </c:ser>
        <c:ser>
          <c:idx val="4"/>
          <c:order val="4"/>
          <c:tx>
            <c:strRef>
              <c:f>Лист2!$M$3:$M$4</c:f>
              <c:strCache>
                <c:ptCount val="1"/>
                <c:pt idx="0">
                  <c:v>ул. Щорса, 26/3</c:v>
                </c:pt>
              </c:strCache>
            </c:strRef>
          </c:tx>
          <c:spPr>
            <a:ln w="38100" cap="flat" cmpd="dbl" algn="ctr">
              <a:solidFill>
                <a:schemeClr val="accent5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5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Лист2!$H$5:$H$29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Лист2!$M$5:$M$29</c:f>
              <c:numCache>
                <c:formatCode>General</c:formatCode>
                <c:ptCount val="24"/>
                <c:pt idx="0">
                  <c:v>42</c:v>
                </c:pt>
                <c:pt idx="1">
                  <c:v>40</c:v>
                </c:pt>
                <c:pt idx="2">
                  <c:v>54</c:v>
                </c:pt>
                <c:pt idx="3">
                  <c:v>32</c:v>
                </c:pt>
                <c:pt idx="4">
                  <c:v>37</c:v>
                </c:pt>
                <c:pt idx="5">
                  <c:v>48</c:v>
                </c:pt>
                <c:pt idx="6">
                  <c:v>53</c:v>
                </c:pt>
                <c:pt idx="7">
                  <c:v>49</c:v>
                </c:pt>
                <c:pt idx="8">
                  <c:v>45</c:v>
                </c:pt>
                <c:pt idx="9">
                  <c:v>48</c:v>
                </c:pt>
                <c:pt idx="10">
                  <c:v>35</c:v>
                </c:pt>
                <c:pt idx="11">
                  <c:v>46</c:v>
                </c:pt>
                <c:pt idx="12">
                  <c:v>50</c:v>
                </c:pt>
                <c:pt idx="13">
                  <c:v>47</c:v>
                </c:pt>
                <c:pt idx="14">
                  <c:v>47</c:v>
                </c:pt>
                <c:pt idx="15">
                  <c:v>47</c:v>
                </c:pt>
                <c:pt idx="16">
                  <c:v>60</c:v>
                </c:pt>
                <c:pt idx="17">
                  <c:v>56</c:v>
                </c:pt>
                <c:pt idx="18">
                  <c:v>44</c:v>
                </c:pt>
                <c:pt idx="19">
                  <c:v>51</c:v>
                </c:pt>
                <c:pt idx="20">
                  <c:v>46</c:v>
                </c:pt>
                <c:pt idx="21">
                  <c:v>57</c:v>
                </c:pt>
                <c:pt idx="22">
                  <c:v>41</c:v>
                </c:pt>
                <c:pt idx="23">
                  <c:v>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435-499B-9453-2AEBFEF66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4703680"/>
        <c:axId val="1194704160"/>
      </c:lineChart>
      <c:catAx>
        <c:axId val="1194703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4704160"/>
        <c:crosses val="autoZero"/>
        <c:auto val="1"/>
        <c:lblAlgn val="ctr"/>
        <c:lblOffset val="100"/>
        <c:noMultiLvlLbl val="0"/>
      </c:catAx>
      <c:valAx>
        <c:axId val="119470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94703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06_11_47689443a3345b10.04011331transaction_list.xlsx]Лист2!Сводная таблица2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4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Длительность  транзакций по серверам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4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Лист2!$B$58:$B$59</c:f>
              <c:strCache>
                <c:ptCount val="1"/>
                <c:pt idx="0">
                  <c:v>1</c:v>
                </c:pt>
              </c:strCache>
            </c:strRef>
          </c:tx>
          <c:spPr>
            <a:ln w="38100" cap="flat" cmpd="dbl" algn="ctr">
              <a:solidFill>
                <a:schemeClr val="accent1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Лист2!$A$60:$A$84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Лист2!$B$60:$B$84</c:f>
              <c:numCache>
                <c:formatCode>0.00</c:formatCode>
                <c:ptCount val="24"/>
                <c:pt idx="0">
                  <c:v>174.11329910948712</c:v>
                </c:pt>
                <c:pt idx="1">
                  <c:v>163.332031625323</c:v>
                </c:pt>
                <c:pt idx="2">
                  <c:v>158.88629693974508</c:v>
                </c:pt>
                <c:pt idx="3">
                  <c:v>229.57233228720725</c:v>
                </c:pt>
                <c:pt idx="4">
                  <c:v>204.44544293638319</c:v>
                </c:pt>
                <c:pt idx="5">
                  <c:v>255.24490202361767</c:v>
                </c:pt>
                <c:pt idx="6">
                  <c:v>218.92225941410288</c:v>
                </c:pt>
                <c:pt idx="7">
                  <c:v>168.05249165442973</c:v>
                </c:pt>
                <c:pt idx="8">
                  <c:v>182.65385282167699</c:v>
                </c:pt>
                <c:pt idx="9">
                  <c:v>175.5822123830622</c:v>
                </c:pt>
                <c:pt idx="10">
                  <c:v>184.1288500232622</c:v>
                </c:pt>
                <c:pt idx="11">
                  <c:v>176.33044847725824</c:v>
                </c:pt>
                <c:pt idx="12">
                  <c:v>167.97717689138176</c:v>
                </c:pt>
                <c:pt idx="13">
                  <c:v>188.69799410281502</c:v>
                </c:pt>
                <c:pt idx="14">
                  <c:v>172.17041899304604</c:v>
                </c:pt>
                <c:pt idx="15">
                  <c:v>181.28263763937866</c:v>
                </c:pt>
                <c:pt idx="16">
                  <c:v>180.51906757451513</c:v>
                </c:pt>
                <c:pt idx="17">
                  <c:v>174.06222983738598</c:v>
                </c:pt>
                <c:pt idx="18">
                  <c:v>179.90113990012239</c:v>
                </c:pt>
                <c:pt idx="19">
                  <c:v>149.36739846598357</c:v>
                </c:pt>
                <c:pt idx="20">
                  <c:v>187.75519163202262</c:v>
                </c:pt>
                <c:pt idx="21">
                  <c:v>182.21170140237993</c:v>
                </c:pt>
                <c:pt idx="22">
                  <c:v>195.63714303996761</c:v>
                </c:pt>
                <c:pt idx="23">
                  <c:v>192.76051621020932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D5-484E-8D75-C3872B54CBAB}"/>
            </c:ext>
          </c:extLst>
        </c:ser>
        <c:ser>
          <c:idx val="1"/>
          <c:order val="1"/>
          <c:tx>
            <c:strRef>
              <c:f>Лист2!$C$58:$C$59</c:f>
              <c:strCache>
                <c:ptCount val="1"/>
                <c:pt idx="0">
                  <c:v>2</c:v>
                </c:pt>
              </c:strCache>
            </c:strRef>
          </c:tx>
          <c:spPr>
            <a:ln w="38100" cap="flat" cmpd="dbl" algn="ctr">
              <a:solidFill>
                <a:schemeClr val="accent2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Лист2!$A$60:$A$84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Лист2!$C$60:$C$84</c:f>
              <c:numCache>
                <c:formatCode>0.00</c:formatCode>
                <c:ptCount val="24"/>
                <c:pt idx="0">
                  <c:v>86.507277672849398</c:v>
                </c:pt>
                <c:pt idx="1">
                  <c:v>88.265350438437309</c:v>
                </c:pt>
                <c:pt idx="2">
                  <c:v>83.669876594917454</c:v>
                </c:pt>
                <c:pt idx="3">
                  <c:v>89.993142603319697</c:v>
                </c:pt>
                <c:pt idx="4">
                  <c:v>87.289175158937923</c:v>
                </c:pt>
                <c:pt idx="5">
                  <c:v>84.794897993013961</c:v>
                </c:pt>
                <c:pt idx="6">
                  <c:v>82.442627421447213</c:v>
                </c:pt>
                <c:pt idx="7">
                  <c:v>87.184424774022773</c:v>
                </c:pt>
                <c:pt idx="8">
                  <c:v>92.712635555468069</c:v>
                </c:pt>
                <c:pt idx="9">
                  <c:v>86.719907649437431</c:v>
                </c:pt>
                <c:pt idx="10">
                  <c:v>81.623381253198858</c:v>
                </c:pt>
                <c:pt idx="11">
                  <c:v>160.37349547664886</c:v>
                </c:pt>
                <c:pt idx="12">
                  <c:v>163.6010618108316</c:v>
                </c:pt>
                <c:pt idx="13">
                  <c:v>162.42156492480248</c:v>
                </c:pt>
                <c:pt idx="14">
                  <c:v>154.95891880287203</c:v>
                </c:pt>
                <c:pt idx="15">
                  <c:v>160.23663775118834</c:v>
                </c:pt>
                <c:pt idx="16">
                  <c:v>83.875950435841716</c:v>
                </c:pt>
                <c:pt idx="17">
                  <c:v>81.199407939276938</c:v>
                </c:pt>
                <c:pt idx="18">
                  <c:v>85.924357140262785</c:v>
                </c:pt>
                <c:pt idx="19">
                  <c:v>98.382577484834101</c:v>
                </c:pt>
                <c:pt idx="20">
                  <c:v>93.898038735185466</c:v>
                </c:pt>
                <c:pt idx="21">
                  <c:v>85.969118771831845</c:v>
                </c:pt>
                <c:pt idx="22">
                  <c:v>79.915881261168678</c:v>
                </c:pt>
                <c:pt idx="23">
                  <c:v>92.20709669441635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D5-484E-8D75-C3872B54CBAB}"/>
            </c:ext>
          </c:extLst>
        </c:ser>
        <c:ser>
          <c:idx val="2"/>
          <c:order val="2"/>
          <c:tx>
            <c:strRef>
              <c:f>Лист2!$D$58:$D$59</c:f>
              <c:strCache>
                <c:ptCount val="1"/>
                <c:pt idx="0">
                  <c:v>3</c:v>
                </c:pt>
              </c:strCache>
            </c:strRef>
          </c:tx>
          <c:spPr>
            <a:ln w="38100" cap="flat" cmpd="dbl" algn="ctr">
              <a:solidFill>
                <a:schemeClr val="accent3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3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Лист2!$A$60:$A$84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Лист2!$D$60:$D$84</c:f>
              <c:numCache>
                <c:formatCode>0.00</c:formatCode>
                <c:ptCount val="24"/>
                <c:pt idx="0">
                  <c:v>96.191763466851285</c:v>
                </c:pt>
                <c:pt idx="1">
                  <c:v>98.923699772048337</c:v>
                </c:pt>
                <c:pt idx="2">
                  <c:v>88.127189909573644</c:v>
                </c:pt>
                <c:pt idx="3">
                  <c:v>83.718173347926722</c:v>
                </c:pt>
                <c:pt idx="4">
                  <c:v>96.796966756365322</c:v>
                </c:pt>
                <c:pt idx="5">
                  <c:v>92.736195063437606</c:v>
                </c:pt>
                <c:pt idx="6">
                  <c:v>103.7297684853053</c:v>
                </c:pt>
                <c:pt idx="7">
                  <c:v>71.293763483620509</c:v>
                </c:pt>
                <c:pt idx="8">
                  <c:v>89.874351004670771</c:v>
                </c:pt>
                <c:pt idx="9">
                  <c:v>76.593845298415729</c:v>
                </c:pt>
                <c:pt idx="10">
                  <c:v>75.575645894787158</c:v>
                </c:pt>
                <c:pt idx="11">
                  <c:v>92.981212574522942</c:v>
                </c:pt>
                <c:pt idx="12">
                  <c:v>80.630079174879938</c:v>
                </c:pt>
                <c:pt idx="13">
                  <c:v>79.552150428678615</c:v>
                </c:pt>
                <c:pt idx="14">
                  <c:v>103.82501608226448</c:v>
                </c:pt>
                <c:pt idx="15">
                  <c:v>95.764655700223827</c:v>
                </c:pt>
                <c:pt idx="16">
                  <c:v>85.787115662956154</c:v>
                </c:pt>
                <c:pt idx="17">
                  <c:v>100.35393512942112</c:v>
                </c:pt>
                <c:pt idx="18">
                  <c:v>108.9830854333584</c:v>
                </c:pt>
                <c:pt idx="19">
                  <c:v>131.7967217038225</c:v>
                </c:pt>
                <c:pt idx="20">
                  <c:v>110.87569734809222</c:v>
                </c:pt>
                <c:pt idx="21">
                  <c:v>141.06709118817977</c:v>
                </c:pt>
                <c:pt idx="22">
                  <c:v>131.30673950198232</c:v>
                </c:pt>
                <c:pt idx="23">
                  <c:v>138.6807914526234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D5-484E-8D75-C3872B54CB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8562016"/>
        <c:axId val="868562976"/>
      </c:lineChart>
      <c:catAx>
        <c:axId val="868562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8562976"/>
        <c:crosses val="autoZero"/>
        <c:auto val="1"/>
        <c:lblAlgn val="ctr"/>
        <c:lblOffset val="100"/>
        <c:noMultiLvlLbl val="0"/>
      </c:catAx>
      <c:valAx>
        <c:axId val="868562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856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[07 06_11_47689443a3345b10.04011331transaction_list.xlsx]Лист2!Сводная таблица3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4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Длительность транзакций по платежным системам</a:t>
            </a:r>
          </a:p>
        </c:rich>
      </c:tx>
      <c:layout>
        <c:manualLayout>
          <c:xMode val="edge"/>
          <c:yMode val="edge"/>
          <c:x val="0.15221155045907853"/>
          <c:y val="4.70665784087541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4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1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2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flat" cmpd="dbl" algn="ctr">
            <a:solidFill>
              <a:schemeClr val="accent1"/>
            </a:solidFill>
            <a:miter lim="800000"/>
          </a:ln>
          <a:effectLst/>
        </c:spPr>
        <c:marker>
          <c:symbol val="circle"/>
          <c:size val="6"/>
          <c:spPr>
            <a:solidFill>
              <a:schemeClr val="accent3"/>
            </a:solidFill>
            <a:ln w="9525" cap="flat" cmpd="sng" algn="ctr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Лист2!$B$93:$B$94</c:f>
              <c:strCache>
                <c:ptCount val="1"/>
                <c:pt idx="0">
                  <c:v>MasterCard</c:v>
                </c:pt>
              </c:strCache>
            </c:strRef>
          </c:tx>
          <c:spPr>
            <a:ln w="38100" cap="flat" cmpd="dbl" algn="ctr">
              <a:solidFill>
                <a:schemeClr val="accent1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Лист2!$B$95:$B$119</c:f>
              <c:numCache>
                <c:formatCode>0.00</c:formatCode>
                <c:ptCount val="24"/>
                <c:pt idx="0">
                  <c:v>98.004942738997016</c:v>
                </c:pt>
                <c:pt idx="1">
                  <c:v>104.50348966902024</c:v>
                </c:pt>
                <c:pt idx="2">
                  <c:v>106.63820033892989</c:v>
                </c:pt>
                <c:pt idx="3">
                  <c:v>105.07509346974835</c:v>
                </c:pt>
                <c:pt idx="4">
                  <c:v>109.98871595779013</c:v>
                </c:pt>
                <c:pt idx="5">
                  <c:v>136.83009870350361</c:v>
                </c:pt>
                <c:pt idx="6">
                  <c:v>121.09515341243853</c:v>
                </c:pt>
                <c:pt idx="7">
                  <c:v>111.68732674307545</c:v>
                </c:pt>
                <c:pt idx="8">
                  <c:v>122.78747376269446</c:v>
                </c:pt>
                <c:pt idx="9">
                  <c:v>103.87442401393359</c:v>
                </c:pt>
                <c:pt idx="10">
                  <c:v>97.818573527312012</c:v>
                </c:pt>
                <c:pt idx="11">
                  <c:v>152.14204047146569</c:v>
                </c:pt>
                <c:pt idx="12">
                  <c:v>144.9174364897892</c:v>
                </c:pt>
                <c:pt idx="13">
                  <c:v>153.34645864013584</c:v>
                </c:pt>
                <c:pt idx="14">
                  <c:v>161.04652635216459</c:v>
                </c:pt>
                <c:pt idx="15">
                  <c:v>156.1599844214206</c:v>
                </c:pt>
                <c:pt idx="16">
                  <c:v>109.99185800050887</c:v>
                </c:pt>
                <c:pt idx="17">
                  <c:v>108.34328806959093</c:v>
                </c:pt>
                <c:pt idx="18">
                  <c:v>128.29759712965989</c:v>
                </c:pt>
                <c:pt idx="19">
                  <c:v>145.87931551955521</c:v>
                </c:pt>
                <c:pt idx="20">
                  <c:v>153.02663714319351</c:v>
                </c:pt>
                <c:pt idx="21">
                  <c:v>136.87760263384706</c:v>
                </c:pt>
                <c:pt idx="22">
                  <c:v>135.73066582426154</c:v>
                </c:pt>
                <c:pt idx="23">
                  <c:v>160.97159491443375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E4-4D38-8287-486E1E87518B}"/>
            </c:ext>
          </c:extLst>
        </c:ser>
        <c:ser>
          <c:idx val="1"/>
          <c:order val="1"/>
          <c:tx>
            <c:strRef>
              <c:f>Лист2!$C$93:$C$94</c:f>
              <c:strCache>
                <c:ptCount val="1"/>
                <c:pt idx="0">
                  <c:v>Visa</c:v>
                </c:pt>
              </c:strCache>
            </c:strRef>
          </c:tx>
          <c:spPr>
            <a:ln w="38100" cap="flat" cmpd="dbl" algn="ctr">
              <a:solidFill>
                <a:schemeClr val="accent2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Лист2!$C$95:$C$119</c:f>
              <c:numCache>
                <c:formatCode>0.00</c:formatCode>
                <c:ptCount val="24"/>
                <c:pt idx="0">
                  <c:v>113.9331184584354</c:v>
                </c:pt>
                <c:pt idx="1">
                  <c:v>118.51813853942215</c:v>
                </c:pt>
                <c:pt idx="2">
                  <c:v>106.28921470564345</c:v>
                </c:pt>
                <c:pt idx="3">
                  <c:v>122.74794969940558</c:v>
                </c:pt>
                <c:pt idx="4">
                  <c:v>120.90261769535149</c:v>
                </c:pt>
                <c:pt idx="5">
                  <c:v>133.52976570505712</c:v>
                </c:pt>
                <c:pt idx="6">
                  <c:v>125.25377968268003</c:v>
                </c:pt>
                <c:pt idx="7">
                  <c:v>105.52373028282697</c:v>
                </c:pt>
                <c:pt idx="8">
                  <c:v>111.12034194321544</c:v>
                </c:pt>
                <c:pt idx="9">
                  <c:v>110.74600171757665</c:v>
                </c:pt>
                <c:pt idx="10">
                  <c:v>107.80457725307761</c:v>
                </c:pt>
                <c:pt idx="11">
                  <c:v>152.08407824366904</c:v>
                </c:pt>
                <c:pt idx="12">
                  <c:v>149.76138902303879</c:v>
                </c:pt>
                <c:pt idx="13">
                  <c:v>166.64078854600808</c:v>
                </c:pt>
                <c:pt idx="14">
                  <c:v>148.33432658670063</c:v>
                </c:pt>
                <c:pt idx="15">
                  <c:v>159.87263613443992</c:v>
                </c:pt>
                <c:pt idx="16">
                  <c:v>109.55382721005734</c:v>
                </c:pt>
                <c:pt idx="17">
                  <c:v>111.96749041449617</c:v>
                </c:pt>
                <c:pt idx="18">
                  <c:v>113.06782551270364</c:v>
                </c:pt>
                <c:pt idx="19">
                  <c:v>104.15490594127083</c:v>
                </c:pt>
                <c:pt idx="20">
                  <c:v>106.89762774152014</c:v>
                </c:pt>
                <c:pt idx="21">
                  <c:v>112.89883423057135</c:v>
                </c:pt>
                <c:pt idx="22">
                  <c:v>111.73753200564533</c:v>
                </c:pt>
                <c:pt idx="23">
                  <c:v>113.96886988826279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E4-4D38-8287-486E1E87518B}"/>
            </c:ext>
          </c:extLst>
        </c:ser>
        <c:ser>
          <c:idx val="2"/>
          <c:order val="2"/>
          <c:tx>
            <c:strRef>
              <c:f>Лист2!$D$93:$D$94</c:f>
              <c:strCache>
                <c:ptCount val="1"/>
                <c:pt idx="0">
                  <c:v>МИР</c:v>
                </c:pt>
              </c:strCache>
            </c:strRef>
          </c:tx>
          <c:spPr>
            <a:ln w="38100" cap="flat" cmpd="dbl" algn="ctr">
              <a:solidFill>
                <a:schemeClr val="accent3"/>
              </a:solidFill>
              <a:miter lim="800000"/>
            </a:ln>
            <a:effectLst/>
          </c:spPr>
          <c:marker>
            <c:symbol val="circle"/>
            <c:size val="6"/>
            <c:spPr>
              <a:solidFill>
                <a:schemeClr val="accent3"/>
              </a:soli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Лист2!$A$95:$A$119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Лист2!$D$95:$D$119</c:f>
              <c:numCache>
                <c:formatCode>0.00</c:formatCode>
                <c:ptCount val="24"/>
                <c:pt idx="0">
                  <c:v>109.11751151738216</c:v>
                </c:pt>
                <c:pt idx="1">
                  <c:v>90.833559767037755</c:v>
                </c:pt>
                <c:pt idx="2">
                  <c:v>102.10764815244053</c:v>
                </c:pt>
                <c:pt idx="3">
                  <c:v>150.70751505810767</c:v>
                </c:pt>
                <c:pt idx="4">
                  <c:v>129.44478819306607</c:v>
                </c:pt>
                <c:pt idx="5">
                  <c:v>123.9528373095461</c:v>
                </c:pt>
                <c:pt idx="6">
                  <c:v>118.58414526738714</c:v>
                </c:pt>
                <c:pt idx="7">
                  <c:v>90.217914395034313</c:v>
                </c:pt>
                <c:pt idx="8">
                  <c:v>103.99905512665188</c:v>
                </c:pt>
                <c:pt idx="9">
                  <c:v>108.91658192813338</c:v>
                </c:pt>
                <c:pt idx="10">
                  <c:v>117.58953381911851</c:v>
                </c:pt>
                <c:pt idx="11">
                  <c:v>148.02394873945963</c:v>
                </c:pt>
                <c:pt idx="12">
                  <c:v>162.95781722778815</c:v>
                </c:pt>
                <c:pt idx="13">
                  <c:v>146.71497822112948</c:v>
                </c:pt>
                <c:pt idx="14">
                  <c:v>138.1733808879662</c:v>
                </c:pt>
                <c:pt idx="15">
                  <c:v>144.86004912606595</c:v>
                </c:pt>
                <c:pt idx="16">
                  <c:v>117.52828556396391</c:v>
                </c:pt>
                <c:pt idx="17">
                  <c:v>119.6862743133679</c:v>
                </c:pt>
                <c:pt idx="18">
                  <c:v>97.626264247362712</c:v>
                </c:pt>
                <c:pt idx="19">
                  <c:v>108.14739344193815</c:v>
                </c:pt>
                <c:pt idx="20">
                  <c:v>107.86299420726776</c:v>
                </c:pt>
                <c:pt idx="21">
                  <c:v>117.94039858068572</c:v>
                </c:pt>
                <c:pt idx="22">
                  <c:v>103.57064268590041</c:v>
                </c:pt>
                <c:pt idx="23">
                  <c:v>100.77668904725995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E4-4D38-8287-486E1E8751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0793760"/>
        <c:axId val="880794240"/>
      </c:lineChart>
      <c:catAx>
        <c:axId val="880793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794240"/>
        <c:crosses val="autoZero"/>
        <c:auto val="1"/>
        <c:lblAlgn val="ctr"/>
        <c:lblOffset val="100"/>
        <c:noMultiLvlLbl val="0"/>
      </c:catAx>
      <c:valAx>
        <c:axId val="880794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32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  <a:tailEnd type="none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80793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[15 05_00_49689ebf01e5e908.08205501transaction_list2.xlsx]Задача 2!Сводная таблица2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sz="14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Сегментация скидок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 b="1" cap="all" spc="150">
                <a:solidFill>
                  <a:schemeClr val="tx1"/>
                </a:solidFill>
              </a:defRPr>
            </a:pPr>
            <a:endParaRPr lang="ru-RU" sz="14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ru-RU" sz="14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2'!$B$3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1C-4742-BD25-C4204B371E47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1C-4742-BD25-C4204B371E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'Задача 2'!$A$4:$A$9</c:f>
              <c:strCache>
                <c:ptCount val="5"/>
                <c:pt idx="0">
                  <c:v>0%</c:v>
                </c:pt>
                <c:pt idx="1">
                  <c:v>1%</c:v>
                </c:pt>
                <c:pt idx="2">
                  <c:v>2%</c:v>
                </c:pt>
                <c:pt idx="3">
                  <c:v>3%</c:v>
                </c:pt>
                <c:pt idx="4">
                  <c:v>4%</c:v>
                </c:pt>
              </c:strCache>
            </c:strRef>
          </c:cat>
          <c:val>
            <c:numRef>
              <c:f>'Задача 2'!$B$4:$B$9</c:f>
              <c:numCache>
                <c:formatCode>#\ ##0\ "₽"</c:formatCode>
                <c:ptCount val="5"/>
                <c:pt idx="0">
                  <c:v>0</c:v>
                </c:pt>
                <c:pt idx="1">
                  <c:v>246507.15988063</c:v>
                </c:pt>
                <c:pt idx="2">
                  <c:v>730390.45374522055</c:v>
                </c:pt>
                <c:pt idx="3">
                  <c:v>1258800.7875509462</c:v>
                </c:pt>
                <c:pt idx="4">
                  <c:v>1765252.9007042588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1C-4742-BD25-C4204B371E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9114415"/>
        <c:axId val="839117775"/>
      </c:barChart>
      <c:catAx>
        <c:axId val="8391144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Размер</a:t>
                </a:r>
                <a:r>
                  <a:rPr lang="ru-RU" baseline="0">
                    <a:solidFill>
                      <a:schemeClr val="tx1"/>
                    </a:solidFill>
                  </a:rPr>
                  <a:t> скидки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9117775"/>
        <c:crosses val="autoZero"/>
        <c:auto val="1"/>
        <c:lblAlgn val="ctr"/>
        <c:lblOffset val="100"/>
        <c:noMultiLvlLbl val="0"/>
      </c:catAx>
      <c:valAx>
        <c:axId val="839117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9114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[15 05_00_49689ebf01e5e908.08205501transaction_list2.xlsx]Задача 3!Сводная таблица3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Экономия</a:t>
            </a:r>
            <a:r>
              <a:rPr lang="ru-RU" b="1" baseline="0" dirty="0"/>
              <a:t> </a:t>
            </a:r>
            <a:r>
              <a:rPr lang="ru-RU" sz="1400" b="1" i="0" u="none" strike="noStrike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клиента</a:t>
            </a:r>
            <a:r>
              <a:rPr lang="ru-RU" b="1" baseline="0" dirty="0"/>
              <a:t> </a:t>
            </a:r>
            <a:endParaRPr lang="ru-RU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'Задача 3'!$B$3</c:f>
              <c:strCache>
                <c:ptCount val="1"/>
                <c:pt idx="0">
                  <c:v>Среднее по полю new_sum_payment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'Задача 3'!$A$4:$A$7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3'!$B$4:$B$7</c:f>
              <c:numCache>
                <c:formatCode>#\ ##0\ "₽"</c:formatCode>
                <c:ptCount val="3"/>
                <c:pt idx="0">
                  <c:v>109.21523429246328</c:v>
                </c:pt>
                <c:pt idx="1">
                  <c:v>112.88725823151709</c:v>
                </c:pt>
                <c:pt idx="2">
                  <c:v>123.08482985008166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5-401B-AE9C-CF775CC4F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59815616"/>
        <c:axId val="1959816096"/>
      </c:barChart>
      <c:lineChart>
        <c:grouping val="standard"/>
        <c:varyColors val="0"/>
        <c:ser>
          <c:idx val="1"/>
          <c:order val="1"/>
          <c:tx>
            <c:strRef>
              <c:f>'Задача 3'!$C$3</c:f>
              <c:strCache>
                <c:ptCount val="1"/>
                <c:pt idx="0">
                  <c:v>Количество по полю id_transaction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'Задача 3'!$A$4:$A$7</c:f>
              <c:strCache>
                <c:ptCount val="3"/>
                <c:pt idx="0">
                  <c:v>5</c:v>
                </c:pt>
                <c:pt idx="1">
                  <c:v>6</c:v>
                </c:pt>
                <c:pt idx="2">
                  <c:v>7</c:v>
                </c:pt>
              </c:strCache>
            </c:strRef>
          </c:cat>
          <c:val>
            <c:numRef>
              <c:f>'Задача 3'!$C$4:$C$7</c:f>
              <c:numCache>
                <c:formatCode>General</c:formatCode>
                <c:ptCount val="3"/>
                <c:pt idx="0">
                  <c:v>10120</c:v>
                </c:pt>
                <c:pt idx="1">
                  <c:v>10217</c:v>
                </c:pt>
                <c:pt idx="2">
                  <c:v>10053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45-401B-AE9C-CF775CC4F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9812256"/>
        <c:axId val="1959817536"/>
      </c:lineChart>
      <c:catAx>
        <c:axId val="19598156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Дни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9816096"/>
        <c:crosses val="autoZero"/>
        <c:auto val="1"/>
        <c:lblAlgn val="ctr"/>
        <c:lblOffset val="100"/>
        <c:noMultiLvlLbl val="0"/>
      </c:catAx>
      <c:valAx>
        <c:axId val="195981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Экономия</a:t>
                </a:r>
                <a:r>
                  <a:rPr lang="ru-RU" baseline="0" dirty="0"/>
                  <a:t> клиента</a:t>
                </a:r>
                <a:endParaRPr lang="ru-RU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\ &quot;₽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9815616"/>
        <c:crosses val="autoZero"/>
        <c:crossBetween val="between"/>
      </c:valAx>
      <c:valAx>
        <c:axId val="195981753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Количество</a:t>
                </a:r>
                <a:r>
                  <a:rPr lang="ru-RU" baseline="0" dirty="0"/>
                  <a:t> транзакций</a:t>
                </a:r>
                <a:endParaRPr lang="ru-RU" dirty="0"/>
              </a:p>
            </c:rich>
          </c:tx>
          <c:layout>
            <c:manualLayout>
              <c:xMode val="edge"/>
              <c:yMode val="edge"/>
              <c:x val="0.9550964519887658"/>
              <c:y val="0.2837505123421930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9812256"/>
        <c:crosses val="max"/>
        <c:crossBetween val="between"/>
      </c:valAx>
      <c:catAx>
        <c:axId val="1959812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598175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6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3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38100" cap="flat" cmpd="dbl" algn="ctr">
        <a:solidFill>
          <a:schemeClr val="phClr"/>
        </a:solidFill>
        <a:miter lim="800000"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lt1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tx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  <a:alpha val="32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  <a:alpha val="32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tx1"/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tx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2700" cap="rnd"/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3175" cap="flat" cmpd="sng" algn="ctr">
        <a:solidFill>
          <a:schemeClr val="tx1">
            <a:lumMod val="15000"/>
            <a:lumOff val="85000"/>
          </a:schemeClr>
        </a:solidFill>
        <a:round/>
        <a:tailEnd type="none" w="med" len="lg"/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0AFBF-DED6-4E1B-905B-0074E47A2964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1078C-B026-444D-99C2-0CFCDBD9C5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535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1078C-B026-444D-99C2-0CFCDBD9C51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48C8E-82CA-ACFF-E1A4-DAADD5A9A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7CE2D7-E3E3-3C2B-47BF-585E1E2FA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90B70-4AE0-45B7-7DFE-922DAEE3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F610FF-3AE1-10FF-D8CB-EB632E8B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CEE233-F5E2-8090-A850-FB0C8D94A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10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B57AE-901C-D7F2-2132-906322AAF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31471-8ECC-B044-79D0-94E6F169A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BAC3DA-0711-8052-7E68-7ED232CF3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0FE11C-D8AA-56B6-B9AF-DD5B9FC2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FB821F-DCDA-4BBA-2FEC-7205733D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1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14DD0-DA2F-4EF1-9926-2BF8ADDB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B3E433-4F78-DA80-332D-A9E282ABD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22C6C2-D2B2-569E-A10B-4E69B8660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1BCD99-4BD2-93B7-7394-F0ADAF88F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79CF0A-5112-EF7D-6A09-9533FB31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18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4917E-0E1E-A08D-2365-EB0EC32A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00A4EB-F4A6-400C-EDD1-DCCC82908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CBF81F-9069-23FD-5598-DCFD85E65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6BAA1F-D512-D35C-AABE-A0369A2B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65FA48-4A75-3D2B-CF75-44A689C0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BBF323-E686-4C6F-6581-FC2266FC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29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ADA2C-F5A7-B1A8-09BF-FE3231C3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4EF38B-9F4A-F465-CDDD-7771FEAFE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E8DFB2-0D36-1E54-61F4-305E2FD65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7AD67CB-061B-387A-705C-253147E0B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186C2C-E0C4-9898-54F8-1D0ED94AA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17585F-C8CC-7681-1997-E6B392887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AD9F6EF-8054-D97E-2C1B-8A4620EE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D0C6DEC-7A00-2E52-7CF0-99835547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8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5DADF-E7D6-A925-113A-27CD6545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B23433-D29B-037D-48FA-B7AA72D5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942C29-E52B-3353-9600-39D5D72D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A9E239-8B58-6105-713C-87F805ED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51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07FF55D-F99A-574A-D096-53EB145FE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13BBAA2-0D69-35C0-63CD-BF0166F9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C25E6C-58ED-F3CF-2910-BC8BBB3E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52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3E50E-C431-3677-5FD9-2D2F8405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24DB38-9ECA-9B84-348C-18B63727A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E85027-3E7C-5787-F340-AF5F38B78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8CD144-866D-6346-78C5-50CD724B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043C62-1406-1F76-6BEE-D0DB8F8C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BF924C-9D06-8810-1C07-544D9A90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55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8C15F-E649-A4BF-C838-2CF538B9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C37709-5C8D-E4BF-887F-E74BF4695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CDE259-E524-11D0-DC87-ABBA0266E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289E7A-836F-B1FA-4C4A-BB0C4B0D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A2AC9D-E28D-1C36-D3F6-D05DB5A5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ED65F1-F5DA-24BE-A765-802FC58C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90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19A03-0E54-DBB8-071D-7847D49C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325D42-15BC-B997-7538-8F1A1ADBB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5A7CF8-5D32-C283-BD22-480E65F33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B849AC-7417-1F94-D278-EC821D60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42CAD1-374F-C465-B89F-B25C83FD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78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65BEF6-1193-FB24-A5AF-4BBC3F03C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673F4B-3BBF-A38B-BD63-A187FBBFE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E41676-E39A-E263-6EEA-E895ED26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CD2033-8972-FBF2-38B5-F159589B4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6CBFCD-B0EB-BABB-9B2D-A701D032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47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8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A5D7A-AC08-0153-971D-646686D5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906414-9032-F45F-9342-730A2F1F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7869A0-9559-C3E9-DDBF-D11442172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FA512-1CFC-4370-AFC3-680985DDE59B}" type="datetimeFigureOut">
              <a:rPr lang="ru-RU" smtClean="0"/>
              <a:t>21.07.2026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D15324-6A50-EEAD-40C4-A5A2AAE5B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C5AB34-0339-BBE6-6974-0B1CE40D4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A2642-6C33-4B5C-B059-7F8EF09720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52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777F9-6B4E-1650-DE45-7B08D2048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9825" y="2120900"/>
            <a:ext cx="5657849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effectLst/>
                <a:latin typeface="Bahnschrift SemiBold Condensed" panose="020B0502040204020203" pitchFamily="34" charset="0"/>
              </a:rPr>
              <a:t>Анализ торговых точек </a:t>
            </a:r>
            <a:r>
              <a:rPr lang="ru-RU" dirty="0" err="1">
                <a:solidFill>
                  <a:schemeClr val="bg1"/>
                </a:solidFill>
                <a:effectLst/>
                <a:latin typeface="Bahnschrift SemiBold Condensed" panose="020B0502040204020203" pitchFamily="34" charset="0"/>
              </a:rPr>
              <a:t>ретейловой</a:t>
            </a:r>
            <a:r>
              <a:rPr lang="ru-RU" dirty="0">
                <a:solidFill>
                  <a:schemeClr val="bg1"/>
                </a:solidFill>
                <a:effectLst/>
                <a:latin typeface="Bahnschrift SemiBold Condensed" panose="020B0502040204020203" pitchFamily="34" charset="0"/>
              </a:rPr>
              <a:t> сети </a:t>
            </a:r>
            <a:r>
              <a:rPr lang="en-US" dirty="0" err="1">
                <a:solidFill>
                  <a:schemeClr val="bg1"/>
                </a:solidFill>
                <a:effectLst/>
                <a:latin typeface="Bahnschrift SemiBold Condensed" panose="020B0502040204020203" pitchFamily="34" charset="0"/>
              </a:rPr>
              <a:t>SkyCrossroad</a:t>
            </a:r>
            <a:endParaRPr lang="ru-RU" dirty="0">
              <a:solidFill>
                <a:schemeClr val="bg1"/>
              </a:solidFill>
              <a:effectLst/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15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B63C4-0274-13BE-AD64-E0D3448D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541"/>
            <a:ext cx="10515600" cy="890452"/>
          </a:xfrm>
        </p:spPr>
        <p:txBody>
          <a:bodyPr>
            <a:norm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Входные параметры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3A0F3-81C7-1E99-51A1-8172B8210462}"/>
              </a:ext>
            </a:extLst>
          </p:cNvPr>
          <p:cNvSpPr txBox="1"/>
          <p:nvPr/>
        </p:nvSpPr>
        <p:spPr>
          <a:xfrm>
            <a:off x="1444635" y="2296612"/>
            <a:ext cx="9909166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u="sng" cap="all" spc="150" dirty="0"/>
              <a:t>Объект исследования</a:t>
            </a:r>
            <a:r>
              <a:rPr lang="ru-RU" sz="1400" cap="all" spc="150" dirty="0"/>
              <a:t>: </a:t>
            </a:r>
            <a:r>
              <a:rPr lang="ru-RU" sz="1400" cap="all" spc="150" dirty="0" err="1"/>
              <a:t>SkyCrossroads</a:t>
            </a:r>
            <a:r>
              <a:rPr lang="ru-RU" sz="1400" cap="all" spc="150" dirty="0"/>
              <a:t> — розничная сеть круглосуточных продуктовых магазинов.  Магазины расположены в нескольких районах города Москвы.</a:t>
            </a:r>
          </a:p>
        </p:txBody>
      </p:sp>
      <p:grpSp>
        <p:nvGrpSpPr>
          <p:cNvPr id="39" name="Google Shape;7688;p71">
            <a:extLst>
              <a:ext uri="{FF2B5EF4-FFF2-40B4-BE49-F238E27FC236}">
                <a16:creationId xmlns:a16="http://schemas.microsoft.com/office/drawing/2014/main" id="{C2D0C5C8-0332-3AFF-C11C-61829C1AE9FB}"/>
              </a:ext>
            </a:extLst>
          </p:cNvPr>
          <p:cNvGrpSpPr/>
          <p:nvPr/>
        </p:nvGrpSpPr>
        <p:grpSpPr>
          <a:xfrm>
            <a:off x="838200" y="2362259"/>
            <a:ext cx="417523" cy="374252"/>
            <a:chOff x="1913012" y="2764940"/>
            <a:chExt cx="417523" cy="374252"/>
          </a:xfrm>
        </p:grpSpPr>
        <p:sp>
          <p:nvSpPr>
            <p:cNvPr id="40" name="Google Shape;7689;p71">
              <a:extLst>
                <a:ext uri="{FF2B5EF4-FFF2-40B4-BE49-F238E27FC236}">
                  <a16:creationId xmlns:a16="http://schemas.microsoft.com/office/drawing/2014/main" id="{50B4A277-CC22-96BB-E8CA-3C3770382976}"/>
                </a:ext>
              </a:extLst>
            </p:cNvPr>
            <p:cNvSpPr/>
            <p:nvPr/>
          </p:nvSpPr>
          <p:spPr>
            <a:xfrm>
              <a:off x="2010693" y="2813676"/>
              <a:ext cx="285214" cy="163494"/>
            </a:xfrm>
            <a:custGeom>
              <a:avLst/>
              <a:gdLst/>
              <a:ahLst/>
              <a:cxnLst/>
              <a:rect l="l" t="t" r="r" b="b"/>
              <a:pathLst>
                <a:path w="10856" h="6223" extrusionOk="0">
                  <a:moveTo>
                    <a:pt x="3594" y="2591"/>
                  </a:moveTo>
                  <a:lnTo>
                    <a:pt x="3594" y="4034"/>
                  </a:lnTo>
                  <a:lnTo>
                    <a:pt x="2151" y="4034"/>
                  </a:lnTo>
                  <a:lnTo>
                    <a:pt x="2151" y="2591"/>
                  </a:lnTo>
                  <a:close/>
                  <a:moveTo>
                    <a:pt x="5508" y="2591"/>
                  </a:moveTo>
                  <a:lnTo>
                    <a:pt x="5508" y="4034"/>
                  </a:lnTo>
                  <a:lnTo>
                    <a:pt x="4072" y="4034"/>
                  </a:lnTo>
                  <a:lnTo>
                    <a:pt x="4072" y="2591"/>
                  </a:lnTo>
                  <a:close/>
                  <a:moveTo>
                    <a:pt x="7422" y="2591"/>
                  </a:moveTo>
                  <a:lnTo>
                    <a:pt x="7422" y="4034"/>
                  </a:lnTo>
                  <a:lnTo>
                    <a:pt x="5986" y="4034"/>
                  </a:lnTo>
                  <a:lnTo>
                    <a:pt x="5986" y="2591"/>
                  </a:lnTo>
                  <a:close/>
                  <a:moveTo>
                    <a:pt x="9337" y="2591"/>
                  </a:moveTo>
                  <a:lnTo>
                    <a:pt x="9344" y="4034"/>
                  </a:lnTo>
                  <a:lnTo>
                    <a:pt x="7901" y="4034"/>
                  </a:lnTo>
                  <a:lnTo>
                    <a:pt x="7901" y="2591"/>
                  </a:lnTo>
                  <a:close/>
                  <a:moveTo>
                    <a:pt x="1915" y="1"/>
                  </a:moveTo>
                  <a:cubicBezTo>
                    <a:pt x="1797" y="1"/>
                    <a:pt x="1679" y="80"/>
                    <a:pt x="1679" y="240"/>
                  </a:cubicBezTo>
                  <a:lnTo>
                    <a:pt x="1679" y="2113"/>
                  </a:lnTo>
                  <a:lnTo>
                    <a:pt x="320" y="2113"/>
                  </a:lnTo>
                  <a:cubicBezTo>
                    <a:pt x="1" y="2113"/>
                    <a:pt x="1" y="2591"/>
                    <a:pt x="320" y="2591"/>
                  </a:cubicBezTo>
                  <a:lnTo>
                    <a:pt x="1679" y="2591"/>
                  </a:lnTo>
                  <a:lnTo>
                    <a:pt x="1679" y="4027"/>
                  </a:lnTo>
                  <a:lnTo>
                    <a:pt x="916" y="4027"/>
                  </a:lnTo>
                  <a:cubicBezTo>
                    <a:pt x="597" y="4027"/>
                    <a:pt x="597" y="4506"/>
                    <a:pt x="916" y="4506"/>
                  </a:cubicBezTo>
                  <a:lnTo>
                    <a:pt x="1679" y="4506"/>
                  </a:lnTo>
                  <a:lnTo>
                    <a:pt x="1679" y="5865"/>
                  </a:lnTo>
                  <a:cubicBezTo>
                    <a:pt x="1679" y="6025"/>
                    <a:pt x="1797" y="6104"/>
                    <a:pt x="1915" y="6104"/>
                  </a:cubicBezTo>
                  <a:cubicBezTo>
                    <a:pt x="2033" y="6104"/>
                    <a:pt x="2151" y="6025"/>
                    <a:pt x="2151" y="5865"/>
                  </a:cubicBezTo>
                  <a:lnTo>
                    <a:pt x="2151" y="4506"/>
                  </a:lnTo>
                  <a:lnTo>
                    <a:pt x="3594" y="4506"/>
                  </a:lnTo>
                  <a:lnTo>
                    <a:pt x="3594" y="5983"/>
                  </a:lnTo>
                  <a:cubicBezTo>
                    <a:pt x="3594" y="6143"/>
                    <a:pt x="3711" y="6222"/>
                    <a:pt x="3830" y="6222"/>
                  </a:cubicBezTo>
                  <a:cubicBezTo>
                    <a:pt x="3949" y="6222"/>
                    <a:pt x="4069" y="6143"/>
                    <a:pt x="4072" y="5983"/>
                  </a:cubicBezTo>
                  <a:lnTo>
                    <a:pt x="4072" y="4506"/>
                  </a:lnTo>
                  <a:lnTo>
                    <a:pt x="5508" y="4506"/>
                  </a:lnTo>
                  <a:lnTo>
                    <a:pt x="5508" y="5983"/>
                  </a:lnTo>
                  <a:cubicBezTo>
                    <a:pt x="5508" y="6143"/>
                    <a:pt x="5628" y="6222"/>
                    <a:pt x="5747" y="6222"/>
                  </a:cubicBezTo>
                  <a:cubicBezTo>
                    <a:pt x="5867" y="6222"/>
                    <a:pt x="5986" y="6143"/>
                    <a:pt x="5986" y="5983"/>
                  </a:cubicBezTo>
                  <a:lnTo>
                    <a:pt x="5986" y="4506"/>
                  </a:lnTo>
                  <a:lnTo>
                    <a:pt x="7422" y="4506"/>
                  </a:lnTo>
                  <a:lnTo>
                    <a:pt x="7422" y="5983"/>
                  </a:lnTo>
                  <a:cubicBezTo>
                    <a:pt x="7422" y="6143"/>
                    <a:pt x="7542" y="6222"/>
                    <a:pt x="7662" y="6222"/>
                  </a:cubicBezTo>
                  <a:cubicBezTo>
                    <a:pt x="7781" y="6222"/>
                    <a:pt x="7901" y="6143"/>
                    <a:pt x="7901" y="5983"/>
                  </a:cubicBezTo>
                  <a:lnTo>
                    <a:pt x="7901" y="4506"/>
                  </a:lnTo>
                  <a:lnTo>
                    <a:pt x="9344" y="4506"/>
                  </a:lnTo>
                  <a:lnTo>
                    <a:pt x="9344" y="5983"/>
                  </a:lnTo>
                  <a:cubicBezTo>
                    <a:pt x="9344" y="6143"/>
                    <a:pt x="9462" y="6222"/>
                    <a:pt x="9579" y="6222"/>
                  </a:cubicBezTo>
                  <a:cubicBezTo>
                    <a:pt x="9697" y="6222"/>
                    <a:pt x="9815" y="6143"/>
                    <a:pt x="9815" y="5983"/>
                  </a:cubicBezTo>
                  <a:lnTo>
                    <a:pt x="9815" y="4506"/>
                  </a:lnTo>
                  <a:lnTo>
                    <a:pt x="10016" y="4506"/>
                  </a:lnTo>
                  <a:cubicBezTo>
                    <a:pt x="10329" y="4506"/>
                    <a:pt x="10329" y="4027"/>
                    <a:pt x="10016" y="4027"/>
                  </a:cubicBezTo>
                  <a:lnTo>
                    <a:pt x="9815" y="4027"/>
                  </a:lnTo>
                  <a:lnTo>
                    <a:pt x="9815" y="2591"/>
                  </a:lnTo>
                  <a:lnTo>
                    <a:pt x="10544" y="2591"/>
                  </a:lnTo>
                  <a:cubicBezTo>
                    <a:pt x="10856" y="2591"/>
                    <a:pt x="10856" y="2113"/>
                    <a:pt x="10544" y="2113"/>
                  </a:cubicBezTo>
                  <a:lnTo>
                    <a:pt x="9815" y="2113"/>
                  </a:lnTo>
                  <a:lnTo>
                    <a:pt x="9815" y="240"/>
                  </a:lnTo>
                  <a:cubicBezTo>
                    <a:pt x="9815" y="80"/>
                    <a:pt x="9696" y="1"/>
                    <a:pt x="9576" y="1"/>
                  </a:cubicBezTo>
                  <a:cubicBezTo>
                    <a:pt x="9456" y="1"/>
                    <a:pt x="9337" y="80"/>
                    <a:pt x="9337" y="240"/>
                  </a:cubicBezTo>
                  <a:lnTo>
                    <a:pt x="9337" y="2113"/>
                  </a:lnTo>
                  <a:lnTo>
                    <a:pt x="7901" y="2113"/>
                  </a:lnTo>
                  <a:lnTo>
                    <a:pt x="7901" y="240"/>
                  </a:lnTo>
                  <a:cubicBezTo>
                    <a:pt x="7901" y="80"/>
                    <a:pt x="7781" y="1"/>
                    <a:pt x="7662" y="1"/>
                  </a:cubicBezTo>
                  <a:cubicBezTo>
                    <a:pt x="7542" y="1"/>
                    <a:pt x="7422" y="80"/>
                    <a:pt x="7422" y="240"/>
                  </a:cubicBezTo>
                  <a:lnTo>
                    <a:pt x="7422" y="2113"/>
                  </a:lnTo>
                  <a:lnTo>
                    <a:pt x="5980" y="2113"/>
                  </a:lnTo>
                  <a:lnTo>
                    <a:pt x="5980" y="240"/>
                  </a:lnTo>
                  <a:cubicBezTo>
                    <a:pt x="5980" y="80"/>
                    <a:pt x="5862" y="1"/>
                    <a:pt x="5744" y="1"/>
                  </a:cubicBezTo>
                  <a:cubicBezTo>
                    <a:pt x="5626" y="1"/>
                    <a:pt x="5508" y="80"/>
                    <a:pt x="5508" y="240"/>
                  </a:cubicBezTo>
                  <a:lnTo>
                    <a:pt x="5508" y="2113"/>
                  </a:lnTo>
                  <a:lnTo>
                    <a:pt x="4072" y="2113"/>
                  </a:lnTo>
                  <a:lnTo>
                    <a:pt x="4072" y="240"/>
                  </a:lnTo>
                  <a:cubicBezTo>
                    <a:pt x="4072" y="80"/>
                    <a:pt x="3954" y="1"/>
                    <a:pt x="3836" y="1"/>
                  </a:cubicBezTo>
                  <a:cubicBezTo>
                    <a:pt x="3718" y="1"/>
                    <a:pt x="3600" y="80"/>
                    <a:pt x="3600" y="240"/>
                  </a:cubicBezTo>
                  <a:lnTo>
                    <a:pt x="3600" y="2113"/>
                  </a:lnTo>
                  <a:lnTo>
                    <a:pt x="2151" y="2113"/>
                  </a:lnTo>
                  <a:lnTo>
                    <a:pt x="2151" y="240"/>
                  </a:lnTo>
                  <a:cubicBezTo>
                    <a:pt x="2151" y="80"/>
                    <a:pt x="2033" y="1"/>
                    <a:pt x="1915" y="1"/>
                  </a:cubicBezTo>
                  <a:close/>
                </a:path>
              </a:pathLst>
            </a:custGeom>
            <a:solidFill>
              <a:srgbClr val="D1D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690;p71">
              <a:extLst>
                <a:ext uri="{FF2B5EF4-FFF2-40B4-BE49-F238E27FC236}">
                  <a16:creationId xmlns:a16="http://schemas.microsoft.com/office/drawing/2014/main" id="{7F77F889-7E97-5319-CE9A-693BE1A9596A}"/>
                </a:ext>
              </a:extLst>
            </p:cNvPr>
            <p:cNvSpPr/>
            <p:nvPr/>
          </p:nvSpPr>
          <p:spPr>
            <a:xfrm>
              <a:off x="2022174" y="3062529"/>
              <a:ext cx="89694" cy="76663"/>
            </a:xfrm>
            <a:custGeom>
              <a:avLst/>
              <a:gdLst/>
              <a:ahLst/>
              <a:cxnLst/>
              <a:rect l="l" t="t" r="r" b="b"/>
              <a:pathLst>
                <a:path w="3414" h="2918" extrusionOk="0">
                  <a:moveTo>
                    <a:pt x="1957" y="0"/>
                  </a:moveTo>
                  <a:cubicBezTo>
                    <a:pt x="653" y="0"/>
                    <a:pt x="1" y="1568"/>
                    <a:pt x="923" y="2490"/>
                  </a:cubicBezTo>
                  <a:cubicBezTo>
                    <a:pt x="1218" y="2786"/>
                    <a:pt x="1583" y="2918"/>
                    <a:pt x="1940" y="2918"/>
                  </a:cubicBezTo>
                  <a:cubicBezTo>
                    <a:pt x="2691" y="2918"/>
                    <a:pt x="3413" y="2335"/>
                    <a:pt x="3413" y="1457"/>
                  </a:cubicBezTo>
                  <a:cubicBezTo>
                    <a:pt x="3413" y="652"/>
                    <a:pt x="2761" y="0"/>
                    <a:pt x="1957" y="0"/>
                  </a:cubicBezTo>
                  <a:close/>
                </a:path>
              </a:pathLst>
            </a:custGeom>
            <a:solidFill>
              <a:srgbClr val="20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691;p71">
              <a:extLst>
                <a:ext uri="{FF2B5EF4-FFF2-40B4-BE49-F238E27FC236}">
                  <a16:creationId xmlns:a16="http://schemas.microsoft.com/office/drawing/2014/main" id="{61E9A7E4-BBFA-A98D-790A-E46160E7F886}"/>
                </a:ext>
              </a:extLst>
            </p:cNvPr>
            <p:cNvSpPr/>
            <p:nvPr/>
          </p:nvSpPr>
          <p:spPr>
            <a:xfrm>
              <a:off x="2050233" y="3083284"/>
              <a:ext cx="40670" cy="34969"/>
            </a:xfrm>
            <a:custGeom>
              <a:avLst/>
              <a:gdLst/>
              <a:ahLst/>
              <a:cxnLst/>
              <a:rect l="l" t="t" r="r" b="b"/>
              <a:pathLst>
                <a:path w="1548" h="1331" extrusionOk="0">
                  <a:moveTo>
                    <a:pt x="889" y="1"/>
                  </a:moveTo>
                  <a:cubicBezTo>
                    <a:pt x="299" y="1"/>
                    <a:pt x="1" y="715"/>
                    <a:pt x="417" y="1131"/>
                  </a:cubicBezTo>
                  <a:cubicBezTo>
                    <a:pt x="552" y="1269"/>
                    <a:pt x="719" y="1330"/>
                    <a:pt x="882" y="1330"/>
                  </a:cubicBezTo>
                  <a:cubicBezTo>
                    <a:pt x="1222" y="1330"/>
                    <a:pt x="1547" y="1065"/>
                    <a:pt x="1547" y="667"/>
                  </a:cubicBezTo>
                  <a:cubicBezTo>
                    <a:pt x="1547" y="299"/>
                    <a:pt x="1249" y="1"/>
                    <a:pt x="889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692;p71">
              <a:extLst>
                <a:ext uri="{FF2B5EF4-FFF2-40B4-BE49-F238E27FC236}">
                  <a16:creationId xmlns:a16="http://schemas.microsoft.com/office/drawing/2014/main" id="{A49F4037-AEDF-52E1-56B9-6692547FD01A}"/>
                </a:ext>
              </a:extLst>
            </p:cNvPr>
            <p:cNvSpPr/>
            <p:nvPr/>
          </p:nvSpPr>
          <p:spPr>
            <a:xfrm>
              <a:off x="2174344" y="3062529"/>
              <a:ext cx="89668" cy="76663"/>
            </a:xfrm>
            <a:custGeom>
              <a:avLst/>
              <a:gdLst/>
              <a:ahLst/>
              <a:cxnLst/>
              <a:rect l="l" t="t" r="r" b="b"/>
              <a:pathLst>
                <a:path w="3413" h="2918" extrusionOk="0">
                  <a:moveTo>
                    <a:pt x="1956" y="0"/>
                  </a:moveTo>
                  <a:cubicBezTo>
                    <a:pt x="652" y="0"/>
                    <a:pt x="0" y="1568"/>
                    <a:pt x="923" y="2490"/>
                  </a:cubicBezTo>
                  <a:cubicBezTo>
                    <a:pt x="1218" y="2786"/>
                    <a:pt x="1582" y="2918"/>
                    <a:pt x="1940" y="2918"/>
                  </a:cubicBezTo>
                  <a:cubicBezTo>
                    <a:pt x="2691" y="2918"/>
                    <a:pt x="3413" y="2335"/>
                    <a:pt x="3413" y="1457"/>
                  </a:cubicBezTo>
                  <a:cubicBezTo>
                    <a:pt x="3413" y="652"/>
                    <a:pt x="2761" y="0"/>
                    <a:pt x="1956" y="0"/>
                  </a:cubicBezTo>
                  <a:close/>
                </a:path>
              </a:pathLst>
            </a:custGeom>
            <a:solidFill>
              <a:srgbClr val="20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693;p71">
              <a:extLst>
                <a:ext uri="{FF2B5EF4-FFF2-40B4-BE49-F238E27FC236}">
                  <a16:creationId xmlns:a16="http://schemas.microsoft.com/office/drawing/2014/main" id="{22208D86-B4E3-AAEB-0C90-6039210B31C7}"/>
                </a:ext>
              </a:extLst>
            </p:cNvPr>
            <p:cNvSpPr/>
            <p:nvPr/>
          </p:nvSpPr>
          <p:spPr>
            <a:xfrm>
              <a:off x="2202219" y="3083284"/>
              <a:ext cx="40854" cy="34969"/>
            </a:xfrm>
            <a:custGeom>
              <a:avLst/>
              <a:gdLst/>
              <a:ahLst/>
              <a:cxnLst/>
              <a:rect l="l" t="t" r="r" b="b"/>
              <a:pathLst>
                <a:path w="1555" h="1331" extrusionOk="0">
                  <a:moveTo>
                    <a:pt x="888" y="1"/>
                  </a:moveTo>
                  <a:cubicBezTo>
                    <a:pt x="299" y="1"/>
                    <a:pt x="0" y="715"/>
                    <a:pt x="417" y="1131"/>
                  </a:cubicBezTo>
                  <a:cubicBezTo>
                    <a:pt x="554" y="1269"/>
                    <a:pt x="722" y="1330"/>
                    <a:pt x="887" y="1330"/>
                  </a:cubicBezTo>
                  <a:cubicBezTo>
                    <a:pt x="1228" y="1330"/>
                    <a:pt x="1554" y="1065"/>
                    <a:pt x="1554" y="667"/>
                  </a:cubicBezTo>
                  <a:cubicBezTo>
                    <a:pt x="1554" y="299"/>
                    <a:pt x="1256" y="1"/>
                    <a:pt x="888" y="1"/>
                  </a:cubicBez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694;p71">
              <a:extLst>
                <a:ext uri="{FF2B5EF4-FFF2-40B4-BE49-F238E27FC236}">
                  <a16:creationId xmlns:a16="http://schemas.microsoft.com/office/drawing/2014/main" id="{775C6E7A-50A6-C606-87CF-308B9CD854C5}"/>
                </a:ext>
              </a:extLst>
            </p:cNvPr>
            <p:cNvSpPr/>
            <p:nvPr/>
          </p:nvSpPr>
          <p:spPr>
            <a:xfrm>
              <a:off x="1995376" y="2792632"/>
              <a:ext cx="335158" cy="174975"/>
            </a:xfrm>
            <a:custGeom>
              <a:avLst/>
              <a:gdLst/>
              <a:ahLst/>
              <a:cxnLst/>
              <a:rect l="l" t="t" r="r" b="b"/>
              <a:pathLst>
                <a:path w="12757" h="6660" extrusionOk="0">
                  <a:moveTo>
                    <a:pt x="1" y="1"/>
                  </a:moveTo>
                  <a:lnTo>
                    <a:pt x="445" y="1263"/>
                  </a:lnTo>
                  <a:lnTo>
                    <a:pt x="11335" y="1263"/>
                  </a:lnTo>
                  <a:lnTo>
                    <a:pt x="10086" y="6659"/>
                  </a:lnTo>
                  <a:lnTo>
                    <a:pt x="11390" y="6659"/>
                  </a:lnTo>
                  <a:lnTo>
                    <a:pt x="12576" y="1506"/>
                  </a:lnTo>
                  <a:cubicBezTo>
                    <a:pt x="12757" y="736"/>
                    <a:pt x="12167" y="1"/>
                    <a:pt x="11376" y="1"/>
                  </a:cubicBezTo>
                  <a:close/>
                </a:path>
              </a:pathLst>
            </a:custGeom>
            <a:solidFill>
              <a:srgbClr val="96A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695;p71">
              <a:extLst>
                <a:ext uri="{FF2B5EF4-FFF2-40B4-BE49-F238E27FC236}">
                  <a16:creationId xmlns:a16="http://schemas.microsoft.com/office/drawing/2014/main" id="{B0F96511-7D20-8D46-DECB-794D25CB4969}"/>
                </a:ext>
              </a:extLst>
            </p:cNvPr>
            <p:cNvSpPr/>
            <p:nvPr/>
          </p:nvSpPr>
          <p:spPr>
            <a:xfrm>
              <a:off x="2273654" y="2792632"/>
              <a:ext cx="56696" cy="174975"/>
            </a:xfrm>
            <a:custGeom>
              <a:avLst/>
              <a:gdLst/>
              <a:ahLst/>
              <a:cxnLst/>
              <a:rect l="l" t="t" r="r" b="b"/>
              <a:pathLst>
                <a:path w="2158" h="6660" extrusionOk="0">
                  <a:moveTo>
                    <a:pt x="0" y="1"/>
                  </a:moveTo>
                  <a:cubicBezTo>
                    <a:pt x="791" y="1"/>
                    <a:pt x="1374" y="736"/>
                    <a:pt x="1200" y="1506"/>
                  </a:cubicBezTo>
                  <a:lnTo>
                    <a:pt x="14" y="6659"/>
                  </a:lnTo>
                  <a:lnTo>
                    <a:pt x="791" y="6659"/>
                  </a:lnTo>
                  <a:lnTo>
                    <a:pt x="1977" y="1506"/>
                  </a:lnTo>
                  <a:cubicBezTo>
                    <a:pt x="2158" y="736"/>
                    <a:pt x="1575" y="1"/>
                    <a:pt x="784" y="1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696;p71">
              <a:extLst>
                <a:ext uri="{FF2B5EF4-FFF2-40B4-BE49-F238E27FC236}">
                  <a16:creationId xmlns:a16="http://schemas.microsoft.com/office/drawing/2014/main" id="{8C873160-D3FD-2309-AC9A-1726E0BF9C03}"/>
                </a:ext>
              </a:extLst>
            </p:cNvPr>
            <p:cNvSpPr/>
            <p:nvPr/>
          </p:nvSpPr>
          <p:spPr>
            <a:xfrm>
              <a:off x="1913012" y="2764940"/>
              <a:ext cx="412610" cy="236006"/>
            </a:xfrm>
            <a:custGeom>
              <a:avLst/>
              <a:gdLst/>
              <a:ahLst/>
              <a:cxnLst/>
              <a:rect l="l" t="t" r="r" b="b"/>
              <a:pathLst>
                <a:path w="15705" h="8983" extrusionOk="0">
                  <a:moveTo>
                    <a:pt x="632" y="0"/>
                  </a:moveTo>
                  <a:cubicBezTo>
                    <a:pt x="278" y="0"/>
                    <a:pt x="1" y="285"/>
                    <a:pt x="1" y="631"/>
                  </a:cubicBezTo>
                  <a:cubicBezTo>
                    <a:pt x="1" y="978"/>
                    <a:pt x="278" y="1263"/>
                    <a:pt x="632" y="1263"/>
                  </a:cubicBezTo>
                  <a:lnTo>
                    <a:pt x="1769" y="1263"/>
                  </a:lnTo>
                  <a:cubicBezTo>
                    <a:pt x="1825" y="1263"/>
                    <a:pt x="1880" y="1297"/>
                    <a:pt x="1901" y="1353"/>
                  </a:cubicBezTo>
                  <a:lnTo>
                    <a:pt x="4045" y="7408"/>
                  </a:lnTo>
                  <a:cubicBezTo>
                    <a:pt x="4447" y="8358"/>
                    <a:pt x="5383" y="8983"/>
                    <a:pt x="6417" y="8983"/>
                  </a:cubicBezTo>
                  <a:lnTo>
                    <a:pt x="15073" y="8983"/>
                  </a:lnTo>
                  <a:cubicBezTo>
                    <a:pt x="15420" y="8983"/>
                    <a:pt x="15704" y="8698"/>
                    <a:pt x="15704" y="8344"/>
                  </a:cubicBezTo>
                  <a:cubicBezTo>
                    <a:pt x="15704" y="7998"/>
                    <a:pt x="15420" y="7713"/>
                    <a:pt x="15073" y="7713"/>
                  </a:cubicBezTo>
                  <a:lnTo>
                    <a:pt x="6417" y="7713"/>
                  </a:lnTo>
                  <a:cubicBezTo>
                    <a:pt x="5890" y="7713"/>
                    <a:pt x="5411" y="7401"/>
                    <a:pt x="5203" y="6909"/>
                  </a:cubicBezTo>
                  <a:lnTo>
                    <a:pt x="3060" y="853"/>
                  </a:lnTo>
                  <a:cubicBezTo>
                    <a:pt x="2845" y="340"/>
                    <a:pt x="2331" y="0"/>
                    <a:pt x="1769" y="0"/>
                  </a:cubicBezTo>
                  <a:close/>
                </a:path>
              </a:pathLst>
            </a:custGeom>
            <a:solidFill>
              <a:srgbClr val="96A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697;p71">
              <a:extLst>
                <a:ext uri="{FF2B5EF4-FFF2-40B4-BE49-F238E27FC236}">
                  <a16:creationId xmlns:a16="http://schemas.microsoft.com/office/drawing/2014/main" id="{CC438A76-FBD3-9C75-05E7-A4BB863A0BE7}"/>
                </a:ext>
              </a:extLst>
            </p:cNvPr>
            <p:cNvSpPr/>
            <p:nvPr/>
          </p:nvSpPr>
          <p:spPr>
            <a:xfrm>
              <a:off x="2026903" y="2967580"/>
              <a:ext cx="299270" cy="33182"/>
            </a:xfrm>
            <a:custGeom>
              <a:avLst/>
              <a:gdLst/>
              <a:ahLst/>
              <a:cxnLst/>
              <a:rect l="l" t="t" r="r" b="b"/>
              <a:pathLst>
                <a:path w="11391" h="1263" extrusionOk="0">
                  <a:moveTo>
                    <a:pt x="10801" y="0"/>
                  </a:moveTo>
                  <a:cubicBezTo>
                    <a:pt x="10807" y="21"/>
                    <a:pt x="10807" y="42"/>
                    <a:pt x="10801" y="63"/>
                  </a:cubicBezTo>
                  <a:cubicBezTo>
                    <a:pt x="10801" y="409"/>
                    <a:pt x="10523" y="694"/>
                    <a:pt x="10169" y="694"/>
                  </a:cubicBezTo>
                  <a:lnTo>
                    <a:pt x="1513" y="694"/>
                  </a:lnTo>
                  <a:cubicBezTo>
                    <a:pt x="972" y="694"/>
                    <a:pt x="438" y="520"/>
                    <a:pt x="1" y="201"/>
                  </a:cubicBezTo>
                  <a:lnTo>
                    <a:pt x="1" y="201"/>
                  </a:lnTo>
                  <a:cubicBezTo>
                    <a:pt x="479" y="867"/>
                    <a:pt x="1256" y="1263"/>
                    <a:pt x="2082" y="1263"/>
                  </a:cubicBezTo>
                  <a:lnTo>
                    <a:pt x="10738" y="1263"/>
                  </a:lnTo>
                  <a:cubicBezTo>
                    <a:pt x="11078" y="1263"/>
                    <a:pt x="11355" y="999"/>
                    <a:pt x="11376" y="659"/>
                  </a:cubicBezTo>
                  <a:cubicBezTo>
                    <a:pt x="11390" y="319"/>
                    <a:pt x="11140" y="28"/>
                    <a:pt x="10801" y="0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698;p71">
              <a:extLst>
                <a:ext uri="{FF2B5EF4-FFF2-40B4-BE49-F238E27FC236}">
                  <a16:creationId xmlns:a16="http://schemas.microsoft.com/office/drawing/2014/main" id="{86C1B5CD-F294-0013-52D5-951831074F5D}"/>
                </a:ext>
              </a:extLst>
            </p:cNvPr>
            <p:cNvSpPr/>
            <p:nvPr/>
          </p:nvSpPr>
          <p:spPr>
            <a:xfrm>
              <a:off x="1994483" y="2978326"/>
              <a:ext cx="287027" cy="92427"/>
            </a:xfrm>
            <a:custGeom>
              <a:avLst/>
              <a:gdLst/>
              <a:ahLst/>
              <a:cxnLst/>
              <a:rect l="l" t="t" r="r" b="b"/>
              <a:pathLst>
                <a:path w="10925" h="3518" extrusionOk="0">
                  <a:moveTo>
                    <a:pt x="1401" y="0"/>
                  </a:moveTo>
                  <a:lnTo>
                    <a:pt x="763" y="923"/>
                  </a:lnTo>
                  <a:cubicBezTo>
                    <a:pt x="0" y="2019"/>
                    <a:pt x="784" y="3517"/>
                    <a:pt x="2123" y="3517"/>
                  </a:cubicBezTo>
                  <a:lnTo>
                    <a:pt x="10287" y="3517"/>
                  </a:lnTo>
                  <a:cubicBezTo>
                    <a:pt x="10640" y="3517"/>
                    <a:pt x="10925" y="3233"/>
                    <a:pt x="10925" y="2886"/>
                  </a:cubicBezTo>
                  <a:cubicBezTo>
                    <a:pt x="10925" y="2539"/>
                    <a:pt x="10640" y="2255"/>
                    <a:pt x="10287" y="2255"/>
                  </a:cubicBezTo>
                  <a:lnTo>
                    <a:pt x="2123" y="2255"/>
                  </a:lnTo>
                  <a:cubicBezTo>
                    <a:pt x="1804" y="2255"/>
                    <a:pt x="1623" y="1901"/>
                    <a:pt x="1797" y="1644"/>
                  </a:cubicBezTo>
                  <a:lnTo>
                    <a:pt x="2449" y="701"/>
                  </a:lnTo>
                  <a:cubicBezTo>
                    <a:pt x="2046" y="562"/>
                    <a:pt x="1686" y="320"/>
                    <a:pt x="1401" y="0"/>
                  </a:cubicBezTo>
                  <a:close/>
                </a:path>
              </a:pathLst>
            </a:custGeom>
            <a:solidFill>
              <a:srgbClr val="96A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699;p71">
              <a:extLst>
                <a:ext uri="{FF2B5EF4-FFF2-40B4-BE49-F238E27FC236}">
                  <a16:creationId xmlns:a16="http://schemas.microsoft.com/office/drawing/2014/main" id="{9B3F0E77-E04E-C984-A676-355652677295}"/>
                </a:ext>
              </a:extLst>
            </p:cNvPr>
            <p:cNvSpPr/>
            <p:nvPr/>
          </p:nvSpPr>
          <p:spPr>
            <a:xfrm>
              <a:off x="2003757" y="3021518"/>
              <a:ext cx="277569" cy="49235"/>
            </a:xfrm>
            <a:custGeom>
              <a:avLst/>
              <a:gdLst/>
              <a:ahLst/>
              <a:cxnLst/>
              <a:rect l="l" t="t" r="r" b="b"/>
              <a:pathLst>
                <a:path w="10565" h="1874" extrusionOk="0">
                  <a:moveTo>
                    <a:pt x="126" y="0"/>
                  </a:moveTo>
                  <a:cubicBezTo>
                    <a:pt x="1" y="951"/>
                    <a:pt x="708" y="1811"/>
                    <a:pt x="1666" y="1873"/>
                  </a:cubicBezTo>
                  <a:lnTo>
                    <a:pt x="9455" y="1873"/>
                  </a:lnTo>
                  <a:cubicBezTo>
                    <a:pt x="9892" y="1873"/>
                    <a:pt x="10058" y="1859"/>
                    <a:pt x="10142" y="1838"/>
                  </a:cubicBezTo>
                  <a:cubicBezTo>
                    <a:pt x="10169" y="1825"/>
                    <a:pt x="10204" y="1811"/>
                    <a:pt x="10232" y="1797"/>
                  </a:cubicBezTo>
                  <a:lnTo>
                    <a:pt x="10253" y="1783"/>
                  </a:lnTo>
                  <a:cubicBezTo>
                    <a:pt x="10273" y="1776"/>
                    <a:pt x="10294" y="1755"/>
                    <a:pt x="10315" y="1741"/>
                  </a:cubicBezTo>
                  <a:lnTo>
                    <a:pt x="10322" y="1741"/>
                  </a:lnTo>
                  <a:lnTo>
                    <a:pt x="10350" y="1714"/>
                  </a:lnTo>
                  <a:lnTo>
                    <a:pt x="10357" y="1707"/>
                  </a:lnTo>
                  <a:cubicBezTo>
                    <a:pt x="10371" y="1693"/>
                    <a:pt x="10384" y="1679"/>
                    <a:pt x="10398" y="1665"/>
                  </a:cubicBezTo>
                  <a:lnTo>
                    <a:pt x="10412" y="1651"/>
                  </a:lnTo>
                  <a:lnTo>
                    <a:pt x="10433" y="1630"/>
                  </a:lnTo>
                  <a:lnTo>
                    <a:pt x="10447" y="1610"/>
                  </a:lnTo>
                  <a:lnTo>
                    <a:pt x="10468" y="1575"/>
                  </a:lnTo>
                  <a:lnTo>
                    <a:pt x="10482" y="1547"/>
                  </a:lnTo>
                  <a:lnTo>
                    <a:pt x="10495" y="1526"/>
                  </a:lnTo>
                  <a:lnTo>
                    <a:pt x="10509" y="1499"/>
                  </a:lnTo>
                  <a:lnTo>
                    <a:pt x="10523" y="1471"/>
                  </a:lnTo>
                  <a:cubicBezTo>
                    <a:pt x="10523" y="1464"/>
                    <a:pt x="10530" y="1450"/>
                    <a:pt x="10537" y="1436"/>
                  </a:cubicBezTo>
                  <a:lnTo>
                    <a:pt x="10544" y="1415"/>
                  </a:lnTo>
                  <a:cubicBezTo>
                    <a:pt x="10544" y="1401"/>
                    <a:pt x="10551" y="1388"/>
                    <a:pt x="10551" y="1374"/>
                  </a:cubicBezTo>
                  <a:lnTo>
                    <a:pt x="10551" y="1360"/>
                  </a:lnTo>
                  <a:cubicBezTo>
                    <a:pt x="10551" y="1346"/>
                    <a:pt x="10558" y="1325"/>
                    <a:pt x="10558" y="1311"/>
                  </a:cubicBezTo>
                  <a:lnTo>
                    <a:pt x="10558" y="1297"/>
                  </a:lnTo>
                  <a:lnTo>
                    <a:pt x="10558" y="1235"/>
                  </a:lnTo>
                  <a:cubicBezTo>
                    <a:pt x="10565" y="1221"/>
                    <a:pt x="10565" y="1200"/>
                    <a:pt x="10565" y="1180"/>
                  </a:cubicBezTo>
                  <a:cubicBezTo>
                    <a:pt x="10565" y="1159"/>
                    <a:pt x="10558" y="1145"/>
                    <a:pt x="10558" y="1124"/>
                  </a:cubicBezTo>
                  <a:lnTo>
                    <a:pt x="10558" y="1117"/>
                  </a:lnTo>
                  <a:cubicBezTo>
                    <a:pt x="10551" y="1075"/>
                    <a:pt x="10537" y="1034"/>
                    <a:pt x="10523" y="999"/>
                  </a:cubicBezTo>
                  <a:cubicBezTo>
                    <a:pt x="10384" y="1186"/>
                    <a:pt x="10169" y="1304"/>
                    <a:pt x="9941" y="1325"/>
                  </a:cubicBezTo>
                  <a:lnTo>
                    <a:pt x="1770" y="1325"/>
                  </a:lnTo>
                  <a:cubicBezTo>
                    <a:pt x="979" y="1311"/>
                    <a:pt x="306" y="763"/>
                    <a:pt x="126" y="0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700;p71">
              <a:extLst>
                <a:ext uri="{FF2B5EF4-FFF2-40B4-BE49-F238E27FC236}">
                  <a16:creationId xmlns:a16="http://schemas.microsoft.com/office/drawing/2014/main" id="{990C479A-3D91-C330-F1E4-361A308D8856}"/>
                </a:ext>
              </a:extLst>
            </p:cNvPr>
            <p:cNvSpPr/>
            <p:nvPr/>
          </p:nvSpPr>
          <p:spPr>
            <a:xfrm>
              <a:off x="2020361" y="2978326"/>
              <a:ext cx="38463" cy="32841"/>
            </a:xfrm>
            <a:custGeom>
              <a:avLst/>
              <a:gdLst/>
              <a:ahLst/>
              <a:cxnLst/>
              <a:rect l="l" t="t" r="r" b="b"/>
              <a:pathLst>
                <a:path w="1464" h="1250" extrusionOk="0">
                  <a:moveTo>
                    <a:pt x="416" y="0"/>
                  </a:moveTo>
                  <a:lnTo>
                    <a:pt x="0" y="604"/>
                  </a:lnTo>
                  <a:cubicBezTo>
                    <a:pt x="305" y="902"/>
                    <a:pt x="673" y="1124"/>
                    <a:pt x="1089" y="1249"/>
                  </a:cubicBezTo>
                  <a:lnTo>
                    <a:pt x="1464" y="701"/>
                  </a:lnTo>
                  <a:cubicBezTo>
                    <a:pt x="1061" y="562"/>
                    <a:pt x="701" y="320"/>
                    <a:pt x="416" y="0"/>
                  </a:cubicBezTo>
                  <a:close/>
                </a:path>
              </a:pathLst>
            </a:custGeom>
            <a:solidFill>
              <a:srgbClr val="496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9529;p73">
            <a:extLst>
              <a:ext uri="{FF2B5EF4-FFF2-40B4-BE49-F238E27FC236}">
                <a16:creationId xmlns:a16="http://schemas.microsoft.com/office/drawing/2014/main" id="{EAAC68FC-9EF5-53B3-2523-9ABDE2AA3505}"/>
              </a:ext>
            </a:extLst>
          </p:cNvPr>
          <p:cNvGrpSpPr/>
          <p:nvPr/>
        </p:nvGrpSpPr>
        <p:grpSpPr>
          <a:xfrm>
            <a:off x="868237" y="3255709"/>
            <a:ext cx="395607" cy="318928"/>
            <a:chOff x="2189681" y="3821606"/>
            <a:chExt cx="395607" cy="318928"/>
          </a:xfrm>
        </p:grpSpPr>
        <p:sp>
          <p:nvSpPr>
            <p:cNvPr id="53" name="Google Shape;9530;p73">
              <a:extLst>
                <a:ext uri="{FF2B5EF4-FFF2-40B4-BE49-F238E27FC236}">
                  <a16:creationId xmlns:a16="http://schemas.microsoft.com/office/drawing/2014/main" id="{523D96B2-10D4-4CE0-61CF-84D91F2E928D}"/>
                </a:ext>
              </a:extLst>
            </p:cNvPr>
            <p:cNvSpPr/>
            <p:nvPr/>
          </p:nvSpPr>
          <p:spPr>
            <a:xfrm>
              <a:off x="2189681" y="3846973"/>
              <a:ext cx="395607" cy="293561"/>
            </a:xfrm>
            <a:custGeom>
              <a:avLst/>
              <a:gdLst/>
              <a:ahLst/>
              <a:cxnLst/>
              <a:rect l="l" t="t" r="r" b="b"/>
              <a:pathLst>
                <a:path w="15065" h="11179" extrusionOk="0">
                  <a:moveTo>
                    <a:pt x="728" y="1"/>
                  </a:moveTo>
                  <a:cubicBezTo>
                    <a:pt x="326" y="1"/>
                    <a:pt x="1" y="326"/>
                    <a:pt x="1" y="728"/>
                  </a:cubicBezTo>
                  <a:lnTo>
                    <a:pt x="1" y="10451"/>
                  </a:lnTo>
                  <a:cubicBezTo>
                    <a:pt x="1" y="10853"/>
                    <a:pt x="326" y="11179"/>
                    <a:pt x="728" y="11179"/>
                  </a:cubicBezTo>
                  <a:lnTo>
                    <a:pt x="14337" y="11179"/>
                  </a:lnTo>
                  <a:cubicBezTo>
                    <a:pt x="14739" y="11179"/>
                    <a:pt x="15064" y="10853"/>
                    <a:pt x="15064" y="10451"/>
                  </a:cubicBezTo>
                  <a:lnTo>
                    <a:pt x="15064" y="728"/>
                  </a:lnTo>
                  <a:cubicBezTo>
                    <a:pt x="15064" y="326"/>
                    <a:pt x="14739" y="1"/>
                    <a:pt x="14337" y="1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531;p73">
              <a:extLst>
                <a:ext uri="{FF2B5EF4-FFF2-40B4-BE49-F238E27FC236}">
                  <a16:creationId xmlns:a16="http://schemas.microsoft.com/office/drawing/2014/main" id="{A903BFE9-75B7-ECE1-626F-BA7AD9A0C109}"/>
                </a:ext>
              </a:extLst>
            </p:cNvPr>
            <p:cNvSpPr/>
            <p:nvPr/>
          </p:nvSpPr>
          <p:spPr>
            <a:xfrm>
              <a:off x="2189681" y="3846973"/>
              <a:ext cx="395607" cy="38235"/>
            </a:xfrm>
            <a:custGeom>
              <a:avLst/>
              <a:gdLst/>
              <a:ahLst/>
              <a:cxnLst/>
              <a:rect l="l" t="t" r="r" b="b"/>
              <a:pathLst>
                <a:path w="15065" h="1456" extrusionOk="0">
                  <a:moveTo>
                    <a:pt x="728" y="1"/>
                  </a:moveTo>
                  <a:cubicBezTo>
                    <a:pt x="326" y="1"/>
                    <a:pt x="1" y="326"/>
                    <a:pt x="1" y="728"/>
                  </a:cubicBezTo>
                  <a:lnTo>
                    <a:pt x="1" y="1455"/>
                  </a:lnTo>
                  <a:lnTo>
                    <a:pt x="15064" y="1455"/>
                  </a:lnTo>
                  <a:lnTo>
                    <a:pt x="15064" y="728"/>
                  </a:lnTo>
                  <a:cubicBezTo>
                    <a:pt x="15064" y="326"/>
                    <a:pt x="14739" y="1"/>
                    <a:pt x="14337" y="1"/>
                  </a:cubicBezTo>
                  <a:close/>
                </a:path>
              </a:pathLst>
            </a:custGeom>
            <a:solidFill>
              <a:srgbClr val="5D7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532;p73">
              <a:extLst>
                <a:ext uri="{FF2B5EF4-FFF2-40B4-BE49-F238E27FC236}">
                  <a16:creationId xmlns:a16="http://schemas.microsoft.com/office/drawing/2014/main" id="{3C97B985-59C8-26F4-E114-F487948F4545}"/>
                </a:ext>
              </a:extLst>
            </p:cNvPr>
            <p:cNvSpPr/>
            <p:nvPr/>
          </p:nvSpPr>
          <p:spPr>
            <a:xfrm>
              <a:off x="2215075" y="3847235"/>
              <a:ext cx="51286" cy="25393"/>
            </a:xfrm>
            <a:custGeom>
              <a:avLst/>
              <a:gdLst/>
              <a:ahLst/>
              <a:cxnLst/>
              <a:rect l="l" t="t" r="r" b="b"/>
              <a:pathLst>
                <a:path w="1953" h="967" extrusionOk="0">
                  <a:moveTo>
                    <a:pt x="10" y="0"/>
                  </a:moveTo>
                  <a:lnTo>
                    <a:pt x="10" y="239"/>
                  </a:lnTo>
                  <a:cubicBezTo>
                    <a:pt x="0" y="641"/>
                    <a:pt x="335" y="967"/>
                    <a:pt x="737" y="967"/>
                  </a:cubicBezTo>
                  <a:lnTo>
                    <a:pt x="1225" y="967"/>
                  </a:lnTo>
                  <a:cubicBezTo>
                    <a:pt x="1627" y="967"/>
                    <a:pt x="1953" y="641"/>
                    <a:pt x="1953" y="239"/>
                  </a:cubicBezTo>
                  <a:lnTo>
                    <a:pt x="1953" y="0"/>
                  </a:lnTo>
                  <a:close/>
                </a:path>
              </a:pathLst>
            </a:custGeom>
            <a:solidFill>
              <a:srgbClr val="3049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533;p73">
              <a:extLst>
                <a:ext uri="{FF2B5EF4-FFF2-40B4-BE49-F238E27FC236}">
                  <a16:creationId xmlns:a16="http://schemas.microsoft.com/office/drawing/2014/main" id="{B96714D2-A493-6C41-ED9B-01AF951C1EE0}"/>
                </a:ext>
              </a:extLst>
            </p:cNvPr>
            <p:cNvSpPr/>
            <p:nvPr/>
          </p:nvSpPr>
          <p:spPr>
            <a:xfrm>
              <a:off x="2508609" y="3847235"/>
              <a:ext cx="51286" cy="25393"/>
            </a:xfrm>
            <a:custGeom>
              <a:avLst/>
              <a:gdLst/>
              <a:ahLst/>
              <a:cxnLst/>
              <a:rect l="l" t="t" r="r" b="b"/>
              <a:pathLst>
                <a:path w="1953" h="967" extrusionOk="0">
                  <a:moveTo>
                    <a:pt x="10" y="0"/>
                  </a:moveTo>
                  <a:lnTo>
                    <a:pt x="10" y="239"/>
                  </a:lnTo>
                  <a:cubicBezTo>
                    <a:pt x="1" y="641"/>
                    <a:pt x="336" y="967"/>
                    <a:pt x="737" y="967"/>
                  </a:cubicBezTo>
                  <a:lnTo>
                    <a:pt x="1226" y="967"/>
                  </a:lnTo>
                  <a:cubicBezTo>
                    <a:pt x="1628" y="967"/>
                    <a:pt x="1953" y="641"/>
                    <a:pt x="1953" y="239"/>
                  </a:cubicBezTo>
                  <a:lnTo>
                    <a:pt x="1953" y="0"/>
                  </a:lnTo>
                  <a:close/>
                </a:path>
              </a:pathLst>
            </a:custGeom>
            <a:solidFill>
              <a:srgbClr val="3049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534;p73">
              <a:extLst>
                <a:ext uri="{FF2B5EF4-FFF2-40B4-BE49-F238E27FC236}">
                  <a16:creationId xmlns:a16="http://schemas.microsoft.com/office/drawing/2014/main" id="{E5F824F2-FBC2-1558-E1D1-3C5C623F5D22}"/>
                </a:ext>
              </a:extLst>
            </p:cNvPr>
            <p:cNvSpPr/>
            <p:nvPr/>
          </p:nvSpPr>
          <p:spPr>
            <a:xfrm>
              <a:off x="2228152" y="3821606"/>
              <a:ext cx="25393" cy="38208"/>
            </a:xfrm>
            <a:custGeom>
              <a:avLst/>
              <a:gdLst/>
              <a:ahLst/>
              <a:cxnLst/>
              <a:rect l="l" t="t" r="r" b="b"/>
              <a:pathLst>
                <a:path w="967" h="1455" extrusionOk="0">
                  <a:moveTo>
                    <a:pt x="239" y="0"/>
                  </a:moveTo>
                  <a:cubicBezTo>
                    <a:pt x="105" y="0"/>
                    <a:pt x="0" y="105"/>
                    <a:pt x="0" y="239"/>
                  </a:cubicBezTo>
                  <a:lnTo>
                    <a:pt x="0" y="1215"/>
                  </a:lnTo>
                  <a:cubicBezTo>
                    <a:pt x="0" y="1349"/>
                    <a:pt x="105" y="1455"/>
                    <a:pt x="239" y="1455"/>
                  </a:cubicBezTo>
                  <a:lnTo>
                    <a:pt x="727" y="1455"/>
                  </a:lnTo>
                  <a:cubicBezTo>
                    <a:pt x="861" y="1455"/>
                    <a:pt x="967" y="1340"/>
                    <a:pt x="967" y="1206"/>
                  </a:cubicBezTo>
                  <a:lnTo>
                    <a:pt x="967" y="239"/>
                  </a:lnTo>
                  <a:cubicBezTo>
                    <a:pt x="967" y="105"/>
                    <a:pt x="852" y="0"/>
                    <a:pt x="727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535;p73">
              <a:extLst>
                <a:ext uri="{FF2B5EF4-FFF2-40B4-BE49-F238E27FC236}">
                  <a16:creationId xmlns:a16="http://schemas.microsoft.com/office/drawing/2014/main" id="{C51ADF6D-44C8-B9F9-45F4-0D685CBDEB3D}"/>
                </a:ext>
              </a:extLst>
            </p:cNvPr>
            <p:cNvSpPr/>
            <p:nvPr/>
          </p:nvSpPr>
          <p:spPr>
            <a:xfrm>
              <a:off x="2228152" y="3821842"/>
              <a:ext cx="25393" cy="18881"/>
            </a:xfrm>
            <a:custGeom>
              <a:avLst/>
              <a:gdLst/>
              <a:ahLst/>
              <a:cxnLst/>
              <a:rect l="l" t="t" r="r" b="b"/>
              <a:pathLst>
                <a:path w="967" h="719" extrusionOk="0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479"/>
                  </a:lnTo>
                  <a:cubicBezTo>
                    <a:pt x="0" y="613"/>
                    <a:pt x="105" y="718"/>
                    <a:pt x="239" y="718"/>
                  </a:cubicBezTo>
                  <a:lnTo>
                    <a:pt x="727" y="718"/>
                  </a:lnTo>
                  <a:cubicBezTo>
                    <a:pt x="852" y="718"/>
                    <a:pt x="967" y="613"/>
                    <a:pt x="967" y="479"/>
                  </a:cubicBezTo>
                  <a:lnTo>
                    <a:pt x="967" y="240"/>
                  </a:lnTo>
                  <a:cubicBezTo>
                    <a:pt x="967" y="106"/>
                    <a:pt x="852" y="1"/>
                    <a:pt x="727" y="1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536;p73">
              <a:extLst>
                <a:ext uri="{FF2B5EF4-FFF2-40B4-BE49-F238E27FC236}">
                  <a16:creationId xmlns:a16="http://schemas.microsoft.com/office/drawing/2014/main" id="{1F0CE4A1-BCDE-8047-1463-DA9C8D157294}"/>
                </a:ext>
              </a:extLst>
            </p:cNvPr>
            <p:cNvSpPr/>
            <p:nvPr/>
          </p:nvSpPr>
          <p:spPr>
            <a:xfrm>
              <a:off x="2521686" y="3821606"/>
              <a:ext cx="25393" cy="38208"/>
            </a:xfrm>
            <a:custGeom>
              <a:avLst/>
              <a:gdLst/>
              <a:ahLst/>
              <a:cxnLst/>
              <a:rect l="l" t="t" r="r" b="b"/>
              <a:pathLst>
                <a:path w="967" h="1455" extrusionOk="0">
                  <a:moveTo>
                    <a:pt x="239" y="0"/>
                  </a:moveTo>
                  <a:cubicBezTo>
                    <a:pt x="105" y="0"/>
                    <a:pt x="0" y="105"/>
                    <a:pt x="0" y="239"/>
                  </a:cubicBezTo>
                  <a:lnTo>
                    <a:pt x="0" y="1215"/>
                  </a:lnTo>
                  <a:cubicBezTo>
                    <a:pt x="0" y="1349"/>
                    <a:pt x="105" y="1455"/>
                    <a:pt x="239" y="1455"/>
                  </a:cubicBezTo>
                  <a:lnTo>
                    <a:pt x="728" y="1455"/>
                  </a:lnTo>
                  <a:cubicBezTo>
                    <a:pt x="862" y="1455"/>
                    <a:pt x="967" y="1340"/>
                    <a:pt x="967" y="1206"/>
                  </a:cubicBezTo>
                  <a:lnTo>
                    <a:pt x="967" y="239"/>
                  </a:lnTo>
                  <a:cubicBezTo>
                    <a:pt x="967" y="105"/>
                    <a:pt x="852" y="0"/>
                    <a:pt x="728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537;p73">
              <a:extLst>
                <a:ext uri="{FF2B5EF4-FFF2-40B4-BE49-F238E27FC236}">
                  <a16:creationId xmlns:a16="http://schemas.microsoft.com/office/drawing/2014/main" id="{C8234272-55C7-2A42-9915-E19ED6B49807}"/>
                </a:ext>
              </a:extLst>
            </p:cNvPr>
            <p:cNvSpPr/>
            <p:nvPr/>
          </p:nvSpPr>
          <p:spPr>
            <a:xfrm>
              <a:off x="2521686" y="3821842"/>
              <a:ext cx="25393" cy="18881"/>
            </a:xfrm>
            <a:custGeom>
              <a:avLst/>
              <a:gdLst/>
              <a:ahLst/>
              <a:cxnLst/>
              <a:rect l="l" t="t" r="r" b="b"/>
              <a:pathLst>
                <a:path w="967" h="719" extrusionOk="0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479"/>
                  </a:lnTo>
                  <a:cubicBezTo>
                    <a:pt x="0" y="613"/>
                    <a:pt x="105" y="718"/>
                    <a:pt x="239" y="718"/>
                  </a:cubicBezTo>
                  <a:lnTo>
                    <a:pt x="728" y="718"/>
                  </a:lnTo>
                  <a:cubicBezTo>
                    <a:pt x="852" y="718"/>
                    <a:pt x="967" y="613"/>
                    <a:pt x="967" y="479"/>
                  </a:cubicBezTo>
                  <a:lnTo>
                    <a:pt x="967" y="240"/>
                  </a:lnTo>
                  <a:cubicBezTo>
                    <a:pt x="967" y="106"/>
                    <a:pt x="852" y="1"/>
                    <a:pt x="728" y="1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538;p73">
              <a:extLst>
                <a:ext uri="{FF2B5EF4-FFF2-40B4-BE49-F238E27FC236}">
                  <a16:creationId xmlns:a16="http://schemas.microsoft.com/office/drawing/2014/main" id="{39138A35-F7D1-64BF-3BDF-C77E9B70AE84}"/>
                </a:ext>
              </a:extLst>
            </p:cNvPr>
            <p:cNvSpPr/>
            <p:nvPr/>
          </p:nvSpPr>
          <p:spPr>
            <a:xfrm>
              <a:off x="2189681" y="3885418"/>
              <a:ext cx="395607" cy="12605"/>
            </a:xfrm>
            <a:custGeom>
              <a:avLst/>
              <a:gdLst/>
              <a:ahLst/>
              <a:cxnLst/>
              <a:rect l="l" t="t" r="r" b="b"/>
              <a:pathLst>
                <a:path w="15065" h="480" extrusionOk="0">
                  <a:moveTo>
                    <a:pt x="1" y="1"/>
                  </a:moveTo>
                  <a:lnTo>
                    <a:pt x="1" y="479"/>
                  </a:lnTo>
                  <a:lnTo>
                    <a:pt x="15064" y="479"/>
                  </a:lnTo>
                  <a:lnTo>
                    <a:pt x="15064" y="1"/>
                  </a:ln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539;p73">
              <a:extLst>
                <a:ext uri="{FF2B5EF4-FFF2-40B4-BE49-F238E27FC236}">
                  <a16:creationId xmlns:a16="http://schemas.microsoft.com/office/drawing/2014/main" id="{BBD5EADF-9392-7B1A-6CF5-819F7FDFF137}"/>
                </a:ext>
              </a:extLst>
            </p:cNvPr>
            <p:cNvSpPr/>
            <p:nvPr/>
          </p:nvSpPr>
          <p:spPr>
            <a:xfrm>
              <a:off x="2228152" y="3923888"/>
              <a:ext cx="51023" cy="25157"/>
            </a:xfrm>
            <a:custGeom>
              <a:avLst/>
              <a:gdLst/>
              <a:ahLst/>
              <a:cxnLst/>
              <a:rect l="l" t="t" r="r" b="b"/>
              <a:pathLst>
                <a:path w="1943" h="958" extrusionOk="0">
                  <a:moveTo>
                    <a:pt x="239" y="0"/>
                  </a:moveTo>
                  <a:cubicBezTo>
                    <a:pt x="105" y="0"/>
                    <a:pt x="0" y="105"/>
                    <a:pt x="0" y="239"/>
                  </a:cubicBezTo>
                  <a:lnTo>
                    <a:pt x="0" y="718"/>
                  </a:lnTo>
                  <a:cubicBezTo>
                    <a:pt x="0" y="852"/>
                    <a:pt x="105" y="957"/>
                    <a:pt x="239" y="957"/>
                  </a:cubicBezTo>
                  <a:lnTo>
                    <a:pt x="1704" y="957"/>
                  </a:lnTo>
                  <a:cubicBezTo>
                    <a:pt x="1828" y="957"/>
                    <a:pt x="1943" y="852"/>
                    <a:pt x="1943" y="718"/>
                  </a:cubicBezTo>
                  <a:lnTo>
                    <a:pt x="1943" y="239"/>
                  </a:lnTo>
                  <a:cubicBezTo>
                    <a:pt x="1943" y="105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540;p73">
              <a:extLst>
                <a:ext uri="{FF2B5EF4-FFF2-40B4-BE49-F238E27FC236}">
                  <a16:creationId xmlns:a16="http://schemas.microsoft.com/office/drawing/2014/main" id="{61D030BE-46DE-E20B-ED67-1A253FA300D4}"/>
                </a:ext>
              </a:extLst>
            </p:cNvPr>
            <p:cNvSpPr/>
            <p:nvPr/>
          </p:nvSpPr>
          <p:spPr>
            <a:xfrm>
              <a:off x="2228152" y="3974885"/>
              <a:ext cx="51023" cy="25420"/>
            </a:xfrm>
            <a:custGeom>
              <a:avLst/>
              <a:gdLst/>
              <a:ahLst/>
              <a:cxnLst/>
              <a:rect l="l" t="t" r="r" b="b"/>
              <a:pathLst>
                <a:path w="1943" h="968" extrusionOk="0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728"/>
                  </a:lnTo>
                  <a:cubicBezTo>
                    <a:pt x="0" y="853"/>
                    <a:pt x="105" y="967"/>
                    <a:pt x="239" y="967"/>
                  </a:cubicBezTo>
                  <a:lnTo>
                    <a:pt x="1704" y="967"/>
                  </a:lnTo>
                  <a:cubicBezTo>
                    <a:pt x="1828" y="967"/>
                    <a:pt x="1943" y="853"/>
                    <a:pt x="1943" y="728"/>
                  </a:cubicBezTo>
                  <a:lnTo>
                    <a:pt x="1943" y="240"/>
                  </a:lnTo>
                  <a:cubicBezTo>
                    <a:pt x="1943" y="106"/>
                    <a:pt x="1828" y="1"/>
                    <a:pt x="1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541;p73">
              <a:extLst>
                <a:ext uri="{FF2B5EF4-FFF2-40B4-BE49-F238E27FC236}">
                  <a16:creationId xmlns:a16="http://schemas.microsoft.com/office/drawing/2014/main" id="{3C299B7F-F4CA-78B7-D341-134F7799239D}"/>
                </a:ext>
              </a:extLst>
            </p:cNvPr>
            <p:cNvSpPr/>
            <p:nvPr/>
          </p:nvSpPr>
          <p:spPr>
            <a:xfrm>
              <a:off x="2228152" y="4025672"/>
              <a:ext cx="51023" cy="25656"/>
            </a:xfrm>
            <a:custGeom>
              <a:avLst/>
              <a:gdLst/>
              <a:ahLst/>
              <a:cxnLst/>
              <a:rect l="l" t="t" r="r" b="b"/>
              <a:pathLst>
                <a:path w="1943" h="977" extrusionOk="0">
                  <a:moveTo>
                    <a:pt x="239" y="0"/>
                  </a:moveTo>
                  <a:cubicBezTo>
                    <a:pt x="105" y="0"/>
                    <a:pt x="0" y="105"/>
                    <a:pt x="0" y="239"/>
                  </a:cubicBezTo>
                  <a:lnTo>
                    <a:pt x="0" y="737"/>
                  </a:lnTo>
                  <a:cubicBezTo>
                    <a:pt x="0" y="861"/>
                    <a:pt x="105" y="976"/>
                    <a:pt x="239" y="976"/>
                  </a:cubicBezTo>
                  <a:lnTo>
                    <a:pt x="1704" y="976"/>
                  </a:lnTo>
                  <a:cubicBezTo>
                    <a:pt x="1838" y="976"/>
                    <a:pt x="1943" y="861"/>
                    <a:pt x="1943" y="727"/>
                  </a:cubicBezTo>
                  <a:lnTo>
                    <a:pt x="1943" y="239"/>
                  </a:lnTo>
                  <a:cubicBezTo>
                    <a:pt x="1943" y="105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542;p73">
              <a:extLst>
                <a:ext uri="{FF2B5EF4-FFF2-40B4-BE49-F238E27FC236}">
                  <a16:creationId xmlns:a16="http://schemas.microsoft.com/office/drawing/2014/main" id="{052DD7E2-346E-26D5-F742-A49D80C40BB1}"/>
                </a:ext>
              </a:extLst>
            </p:cNvPr>
            <p:cNvSpPr/>
            <p:nvPr/>
          </p:nvSpPr>
          <p:spPr>
            <a:xfrm>
              <a:off x="2317357" y="4025672"/>
              <a:ext cx="51049" cy="25656"/>
            </a:xfrm>
            <a:custGeom>
              <a:avLst/>
              <a:gdLst/>
              <a:ahLst/>
              <a:cxnLst/>
              <a:rect l="l" t="t" r="r" b="b"/>
              <a:pathLst>
                <a:path w="1944" h="977" extrusionOk="0">
                  <a:moveTo>
                    <a:pt x="240" y="0"/>
                  </a:moveTo>
                  <a:cubicBezTo>
                    <a:pt x="106" y="0"/>
                    <a:pt x="1" y="105"/>
                    <a:pt x="1" y="239"/>
                  </a:cubicBezTo>
                  <a:lnTo>
                    <a:pt x="1" y="737"/>
                  </a:lnTo>
                  <a:cubicBezTo>
                    <a:pt x="1" y="861"/>
                    <a:pt x="106" y="976"/>
                    <a:pt x="240" y="976"/>
                  </a:cubicBezTo>
                  <a:lnTo>
                    <a:pt x="1704" y="976"/>
                  </a:lnTo>
                  <a:cubicBezTo>
                    <a:pt x="1838" y="976"/>
                    <a:pt x="1943" y="861"/>
                    <a:pt x="1943" y="727"/>
                  </a:cubicBezTo>
                  <a:lnTo>
                    <a:pt x="1943" y="239"/>
                  </a:lnTo>
                  <a:cubicBezTo>
                    <a:pt x="1943" y="105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543;p73">
              <a:extLst>
                <a:ext uri="{FF2B5EF4-FFF2-40B4-BE49-F238E27FC236}">
                  <a16:creationId xmlns:a16="http://schemas.microsoft.com/office/drawing/2014/main" id="{02F1ABF8-0F66-9C6A-2F0D-11512706CB25}"/>
                </a:ext>
              </a:extLst>
            </p:cNvPr>
            <p:cNvSpPr/>
            <p:nvPr/>
          </p:nvSpPr>
          <p:spPr>
            <a:xfrm>
              <a:off x="2406825" y="4025672"/>
              <a:ext cx="50787" cy="25656"/>
            </a:xfrm>
            <a:custGeom>
              <a:avLst/>
              <a:gdLst/>
              <a:ahLst/>
              <a:cxnLst/>
              <a:rect l="l" t="t" r="r" b="b"/>
              <a:pathLst>
                <a:path w="1934" h="977" extrusionOk="0">
                  <a:moveTo>
                    <a:pt x="240" y="0"/>
                  </a:moveTo>
                  <a:cubicBezTo>
                    <a:pt x="106" y="0"/>
                    <a:pt x="1" y="105"/>
                    <a:pt x="1" y="239"/>
                  </a:cubicBezTo>
                  <a:lnTo>
                    <a:pt x="1" y="737"/>
                  </a:lnTo>
                  <a:cubicBezTo>
                    <a:pt x="1" y="861"/>
                    <a:pt x="106" y="976"/>
                    <a:pt x="240" y="976"/>
                  </a:cubicBezTo>
                  <a:lnTo>
                    <a:pt x="1695" y="976"/>
                  </a:lnTo>
                  <a:cubicBezTo>
                    <a:pt x="1829" y="976"/>
                    <a:pt x="1934" y="861"/>
                    <a:pt x="1934" y="727"/>
                  </a:cubicBezTo>
                  <a:lnTo>
                    <a:pt x="1934" y="239"/>
                  </a:lnTo>
                  <a:cubicBezTo>
                    <a:pt x="1934" y="105"/>
                    <a:pt x="1829" y="0"/>
                    <a:pt x="16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544;p73">
              <a:extLst>
                <a:ext uri="{FF2B5EF4-FFF2-40B4-BE49-F238E27FC236}">
                  <a16:creationId xmlns:a16="http://schemas.microsoft.com/office/drawing/2014/main" id="{5A77145F-F99F-2E9A-1040-3F7D10834124}"/>
                </a:ext>
              </a:extLst>
            </p:cNvPr>
            <p:cNvSpPr/>
            <p:nvPr/>
          </p:nvSpPr>
          <p:spPr>
            <a:xfrm>
              <a:off x="2317357" y="3974885"/>
              <a:ext cx="51049" cy="25420"/>
            </a:xfrm>
            <a:custGeom>
              <a:avLst/>
              <a:gdLst/>
              <a:ahLst/>
              <a:cxnLst/>
              <a:rect l="l" t="t" r="r" b="b"/>
              <a:pathLst>
                <a:path w="1944" h="968" extrusionOk="0">
                  <a:moveTo>
                    <a:pt x="240" y="1"/>
                  </a:moveTo>
                  <a:cubicBezTo>
                    <a:pt x="106" y="1"/>
                    <a:pt x="1" y="106"/>
                    <a:pt x="1" y="240"/>
                  </a:cubicBezTo>
                  <a:lnTo>
                    <a:pt x="1" y="728"/>
                  </a:lnTo>
                  <a:cubicBezTo>
                    <a:pt x="1" y="853"/>
                    <a:pt x="106" y="967"/>
                    <a:pt x="240" y="967"/>
                  </a:cubicBezTo>
                  <a:lnTo>
                    <a:pt x="1704" y="967"/>
                  </a:lnTo>
                  <a:cubicBezTo>
                    <a:pt x="1828" y="967"/>
                    <a:pt x="1943" y="853"/>
                    <a:pt x="1943" y="728"/>
                  </a:cubicBezTo>
                  <a:lnTo>
                    <a:pt x="1943" y="240"/>
                  </a:lnTo>
                  <a:cubicBezTo>
                    <a:pt x="1943" y="106"/>
                    <a:pt x="1828" y="1"/>
                    <a:pt x="1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545;p73">
              <a:extLst>
                <a:ext uri="{FF2B5EF4-FFF2-40B4-BE49-F238E27FC236}">
                  <a16:creationId xmlns:a16="http://schemas.microsoft.com/office/drawing/2014/main" id="{7AB95575-2002-93AA-7371-AEE2F20B1200}"/>
                </a:ext>
              </a:extLst>
            </p:cNvPr>
            <p:cNvSpPr/>
            <p:nvPr/>
          </p:nvSpPr>
          <p:spPr>
            <a:xfrm>
              <a:off x="2228152" y="4076932"/>
              <a:ext cx="51023" cy="25393"/>
            </a:xfrm>
            <a:custGeom>
              <a:avLst/>
              <a:gdLst/>
              <a:ahLst/>
              <a:cxnLst/>
              <a:rect l="l" t="t" r="r" b="b"/>
              <a:pathLst>
                <a:path w="1943" h="967" extrusionOk="0">
                  <a:moveTo>
                    <a:pt x="239" y="0"/>
                  </a:moveTo>
                  <a:cubicBezTo>
                    <a:pt x="105" y="0"/>
                    <a:pt x="0" y="106"/>
                    <a:pt x="0" y="240"/>
                  </a:cubicBezTo>
                  <a:lnTo>
                    <a:pt x="0" y="728"/>
                  </a:lnTo>
                  <a:cubicBezTo>
                    <a:pt x="0" y="862"/>
                    <a:pt x="105" y="967"/>
                    <a:pt x="239" y="967"/>
                  </a:cubicBezTo>
                  <a:lnTo>
                    <a:pt x="1704" y="967"/>
                  </a:lnTo>
                  <a:cubicBezTo>
                    <a:pt x="1828" y="967"/>
                    <a:pt x="1943" y="862"/>
                    <a:pt x="1943" y="728"/>
                  </a:cubicBezTo>
                  <a:lnTo>
                    <a:pt x="1943" y="240"/>
                  </a:lnTo>
                  <a:cubicBezTo>
                    <a:pt x="1943" y="106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546;p73">
              <a:extLst>
                <a:ext uri="{FF2B5EF4-FFF2-40B4-BE49-F238E27FC236}">
                  <a16:creationId xmlns:a16="http://schemas.microsoft.com/office/drawing/2014/main" id="{69EF59EF-E4E3-6B48-F880-CB563B4B27EE}"/>
                </a:ext>
              </a:extLst>
            </p:cNvPr>
            <p:cNvSpPr/>
            <p:nvPr/>
          </p:nvSpPr>
          <p:spPr>
            <a:xfrm>
              <a:off x="2317357" y="3923888"/>
              <a:ext cx="51049" cy="25157"/>
            </a:xfrm>
            <a:custGeom>
              <a:avLst/>
              <a:gdLst/>
              <a:ahLst/>
              <a:cxnLst/>
              <a:rect l="l" t="t" r="r" b="b"/>
              <a:pathLst>
                <a:path w="1944" h="958" extrusionOk="0">
                  <a:moveTo>
                    <a:pt x="240" y="0"/>
                  </a:moveTo>
                  <a:cubicBezTo>
                    <a:pt x="106" y="0"/>
                    <a:pt x="1" y="105"/>
                    <a:pt x="1" y="239"/>
                  </a:cubicBezTo>
                  <a:lnTo>
                    <a:pt x="1" y="718"/>
                  </a:lnTo>
                  <a:cubicBezTo>
                    <a:pt x="1" y="852"/>
                    <a:pt x="106" y="957"/>
                    <a:pt x="240" y="957"/>
                  </a:cubicBezTo>
                  <a:lnTo>
                    <a:pt x="1704" y="957"/>
                  </a:lnTo>
                  <a:cubicBezTo>
                    <a:pt x="1828" y="957"/>
                    <a:pt x="1943" y="852"/>
                    <a:pt x="1943" y="718"/>
                  </a:cubicBezTo>
                  <a:lnTo>
                    <a:pt x="1943" y="239"/>
                  </a:lnTo>
                  <a:cubicBezTo>
                    <a:pt x="1943" y="105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547;p73">
              <a:extLst>
                <a:ext uri="{FF2B5EF4-FFF2-40B4-BE49-F238E27FC236}">
                  <a16:creationId xmlns:a16="http://schemas.microsoft.com/office/drawing/2014/main" id="{3D04449E-898D-596F-0C9D-F79A3693A092}"/>
                </a:ext>
              </a:extLst>
            </p:cNvPr>
            <p:cNvSpPr/>
            <p:nvPr/>
          </p:nvSpPr>
          <p:spPr>
            <a:xfrm>
              <a:off x="2317357" y="4076932"/>
              <a:ext cx="51049" cy="25393"/>
            </a:xfrm>
            <a:custGeom>
              <a:avLst/>
              <a:gdLst/>
              <a:ahLst/>
              <a:cxnLst/>
              <a:rect l="l" t="t" r="r" b="b"/>
              <a:pathLst>
                <a:path w="1944" h="967" extrusionOk="0">
                  <a:moveTo>
                    <a:pt x="240" y="0"/>
                  </a:moveTo>
                  <a:cubicBezTo>
                    <a:pt x="106" y="0"/>
                    <a:pt x="1" y="106"/>
                    <a:pt x="1" y="240"/>
                  </a:cubicBezTo>
                  <a:lnTo>
                    <a:pt x="1" y="728"/>
                  </a:lnTo>
                  <a:cubicBezTo>
                    <a:pt x="1" y="862"/>
                    <a:pt x="106" y="967"/>
                    <a:pt x="240" y="967"/>
                  </a:cubicBezTo>
                  <a:lnTo>
                    <a:pt x="1704" y="967"/>
                  </a:lnTo>
                  <a:cubicBezTo>
                    <a:pt x="1828" y="967"/>
                    <a:pt x="1943" y="862"/>
                    <a:pt x="1943" y="728"/>
                  </a:cubicBezTo>
                  <a:lnTo>
                    <a:pt x="1943" y="240"/>
                  </a:lnTo>
                  <a:cubicBezTo>
                    <a:pt x="1943" y="106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548;p73">
              <a:extLst>
                <a:ext uri="{FF2B5EF4-FFF2-40B4-BE49-F238E27FC236}">
                  <a16:creationId xmlns:a16="http://schemas.microsoft.com/office/drawing/2014/main" id="{77B94580-DA9D-3A60-716F-BEDC0E44ED17}"/>
                </a:ext>
              </a:extLst>
            </p:cNvPr>
            <p:cNvSpPr/>
            <p:nvPr/>
          </p:nvSpPr>
          <p:spPr>
            <a:xfrm>
              <a:off x="2496057" y="4025672"/>
              <a:ext cx="51023" cy="25656"/>
            </a:xfrm>
            <a:custGeom>
              <a:avLst/>
              <a:gdLst/>
              <a:ahLst/>
              <a:cxnLst/>
              <a:rect l="l" t="t" r="r" b="b"/>
              <a:pathLst>
                <a:path w="1943" h="977" extrusionOk="0">
                  <a:moveTo>
                    <a:pt x="239" y="0"/>
                  </a:moveTo>
                  <a:cubicBezTo>
                    <a:pt x="105" y="0"/>
                    <a:pt x="0" y="105"/>
                    <a:pt x="0" y="239"/>
                  </a:cubicBezTo>
                  <a:lnTo>
                    <a:pt x="0" y="737"/>
                  </a:lnTo>
                  <a:cubicBezTo>
                    <a:pt x="0" y="861"/>
                    <a:pt x="105" y="976"/>
                    <a:pt x="239" y="976"/>
                  </a:cubicBezTo>
                  <a:lnTo>
                    <a:pt x="1704" y="976"/>
                  </a:lnTo>
                  <a:cubicBezTo>
                    <a:pt x="1838" y="976"/>
                    <a:pt x="1943" y="861"/>
                    <a:pt x="1943" y="727"/>
                  </a:cubicBezTo>
                  <a:lnTo>
                    <a:pt x="1943" y="239"/>
                  </a:lnTo>
                  <a:cubicBezTo>
                    <a:pt x="1943" y="105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549;p73">
              <a:extLst>
                <a:ext uri="{FF2B5EF4-FFF2-40B4-BE49-F238E27FC236}">
                  <a16:creationId xmlns:a16="http://schemas.microsoft.com/office/drawing/2014/main" id="{56D209D2-4018-6112-6E6E-E7AF34ABE1EC}"/>
                </a:ext>
              </a:extLst>
            </p:cNvPr>
            <p:cNvSpPr/>
            <p:nvPr/>
          </p:nvSpPr>
          <p:spPr>
            <a:xfrm>
              <a:off x="2496057" y="3923888"/>
              <a:ext cx="51023" cy="25157"/>
            </a:xfrm>
            <a:custGeom>
              <a:avLst/>
              <a:gdLst/>
              <a:ahLst/>
              <a:cxnLst/>
              <a:rect l="l" t="t" r="r" b="b"/>
              <a:pathLst>
                <a:path w="1943" h="958" extrusionOk="0">
                  <a:moveTo>
                    <a:pt x="239" y="0"/>
                  </a:moveTo>
                  <a:cubicBezTo>
                    <a:pt x="105" y="0"/>
                    <a:pt x="0" y="105"/>
                    <a:pt x="0" y="239"/>
                  </a:cubicBezTo>
                  <a:lnTo>
                    <a:pt x="0" y="718"/>
                  </a:lnTo>
                  <a:cubicBezTo>
                    <a:pt x="0" y="852"/>
                    <a:pt x="105" y="957"/>
                    <a:pt x="239" y="957"/>
                  </a:cubicBezTo>
                  <a:lnTo>
                    <a:pt x="1704" y="957"/>
                  </a:lnTo>
                  <a:cubicBezTo>
                    <a:pt x="1828" y="957"/>
                    <a:pt x="1943" y="852"/>
                    <a:pt x="1943" y="718"/>
                  </a:cubicBezTo>
                  <a:lnTo>
                    <a:pt x="1943" y="239"/>
                  </a:lnTo>
                  <a:cubicBezTo>
                    <a:pt x="1943" y="105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550;p73">
              <a:extLst>
                <a:ext uri="{FF2B5EF4-FFF2-40B4-BE49-F238E27FC236}">
                  <a16:creationId xmlns:a16="http://schemas.microsoft.com/office/drawing/2014/main" id="{CB5FAC0C-6C59-5817-6CA4-175FA5F518FE}"/>
                </a:ext>
              </a:extLst>
            </p:cNvPr>
            <p:cNvSpPr/>
            <p:nvPr/>
          </p:nvSpPr>
          <p:spPr>
            <a:xfrm>
              <a:off x="2496057" y="4076932"/>
              <a:ext cx="51023" cy="25393"/>
            </a:xfrm>
            <a:custGeom>
              <a:avLst/>
              <a:gdLst/>
              <a:ahLst/>
              <a:cxnLst/>
              <a:rect l="l" t="t" r="r" b="b"/>
              <a:pathLst>
                <a:path w="1943" h="967" extrusionOk="0">
                  <a:moveTo>
                    <a:pt x="239" y="0"/>
                  </a:moveTo>
                  <a:cubicBezTo>
                    <a:pt x="105" y="0"/>
                    <a:pt x="0" y="106"/>
                    <a:pt x="0" y="240"/>
                  </a:cubicBezTo>
                  <a:lnTo>
                    <a:pt x="0" y="728"/>
                  </a:lnTo>
                  <a:cubicBezTo>
                    <a:pt x="0" y="862"/>
                    <a:pt x="105" y="967"/>
                    <a:pt x="239" y="967"/>
                  </a:cubicBezTo>
                  <a:lnTo>
                    <a:pt x="1704" y="967"/>
                  </a:lnTo>
                  <a:cubicBezTo>
                    <a:pt x="1828" y="967"/>
                    <a:pt x="1943" y="862"/>
                    <a:pt x="1943" y="728"/>
                  </a:cubicBezTo>
                  <a:lnTo>
                    <a:pt x="1943" y="240"/>
                  </a:lnTo>
                  <a:cubicBezTo>
                    <a:pt x="1943" y="106"/>
                    <a:pt x="1828" y="0"/>
                    <a:pt x="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551;p73">
              <a:extLst>
                <a:ext uri="{FF2B5EF4-FFF2-40B4-BE49-F238E27FC236}">
                  <a16:creationId xmlns:a16="http://schemas.microsoft.com/office/drawing/2014/main" id="{E9E0C908-D8DB-1BAF-FFAC-E7F7506B90F4}"/>
                </a:ext>
              </a:extLst>
            </p:cNvPr>
            <p:cNvSpPr/>
            <p:nvPr/>
          </p:nvSpPr>
          <p:spPr>
            <a:xfrm>
              <a:off x="2406825" y="3974885"/>
              <a:ext cx="50787" cy="25420"/>
            </a:xfrm>
            <a:custGeom>
              <a:avLst/>
              <a:gdLst/>
              <a:ahLst/>
              <a:cxnLst/>
              <a:rect l="l" t="t" r="r" b="b"/>
              <a:pathLst>
                <a:path w="1934" h="968" extrusionOk="0">
                  <a:moveTo>
                    <a:pt x="240" y="1"/>
                  </a:moveTo>
                  <a:cubicBezTo>
                    <a:pt x="106" y="1"/>
                    <a:pt x="1" y="106"/>
                    <a:pt x="1" y="240"/>
                  </a:cubicBezTo>
                  <a:lnTo>
                    <a:pt x="1" y="728"/>
                  </a:lnTo>
                  <a:cubicBezTo>
                    <a:pt x="1" y="853"/>
                    <a:pt x="106" y="967"/>
                    <a:pt x="240" y="967"/>
                  </a:cubicBezTo>
                  <a:lnTo>
                    <a:pt x="1695" y="967"/>
                  </a:lnTo>
                  <a:cubicBezTo>
                    <a:pt x="1829" y="967"/>
                    <a:pt x="1934" y="853"/>
                    <a:pt x="1934" y="728"/>
                  </a:cubicBezTo>
                  <a:lnTo>
                    <a:pt x="1934" y="240"/>
                  </a:lnTo>
                  <a:cubicBezTo>
                    <a:pt x="1934" y="106"/>
                    <a:pt x="1829" y="1"/>
                    <a:pt x="1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552;p73">
              <a:extLst>
                <a:ext uri="{FF2B5EF4-FFF2-40B4-BE49-F238E27FC236}">
                  <a16:creationId xmlns:a16="http://schemas.microsoft.com/office/drawing/2014/main" id="{BA7B5DB2-273C-5903-1F94-F4F6082D6568}"/>
                </a:ext>
              </a:extLst>
            </p:cNvPr>
            <p:cNvSpPr/>
            <p:nvPr/>
          </p:nvSpPr>
          <p:spPr>
            <a:xfrm>
              <a:off x="2406825" y="3923888"/>
              <a:ext cx="50787" cy="25157"/>
            </a:xfrm>
            <a:custGeom>
              <a:avLst/>
              <a:gdLst/>
              <a:ahLst/>
              <a:cxnLst/>
              <a:rect l="l" t="t" r="r" b="b"/>
              <a:pathLst>
                <a:path w="1934" h="958" extrusionOk="0">
                  <a:moveTo>
                    <a:pt x="240" y="0"/>
                  </a:moveTo>
                  <a:cubicBezTo>
                    <a:pt x="106" y="0"/>
                    <a:pt x="1" y="105"/>
                    <a:pt x="1" y="239"/>
                  </a:cubicBezTo>
                  <a:lnTo>
                    <a:pt x="1" y="718"/>
                  </a:lnTo>
                  <a:cubicBezTo>
                    <a:pt x="1" y="852"/>
                    <a:pt x="106" y="957"/>
                    <a:pt x="240" y="957"/>
                  </a:cubicBezTo>
                  <a:lnTo>
                    <a:pt x="1695" y="957"/>
                  </a:lnTo>
                  <a:cubicBezTo>
                    <a:pt x="1829" y="957"/>
                    <a:pt x="1934" y="852"/>
                    <a:pt x="1934" y="718"/>
                  </a:cubicBezTo>
                  <a:lnTo>
                    <a:pt x="1934" y="239"/>
                  </a:lnTo>
                  <a:cubicBezTo>
                    <a:pt x="1934" y="105"/>
                    <a:pt x="1829" y="0"/>
                    <a:pt x="16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553;p73">
              <a:extLst>
                <a:ext uri="{FF2B5EF4-FFF2-40B4-BE49-F238E27FC236}">
                  <a16:creationId xmlns:a16="http://schemas.microsoft.com/office/drawing/2014/main" id="{205DF7CF-1416-158D-6C16-AAA6BC15FFEF}"/>
                </a:ext>
              </a:extLst>
            </p:cNvPr>
            <p:cNvSpPr/>
            <p:nvPr/>
          </p:nvSpPr>
          <p:spPr>
            <a:xfrm>
              <a:off x="2496057" y="3974885"/>
              <a:ext cx="51023" cy="25420"/>
            </a:xfrm>
            <a:custGeom>
              <a:avLst/>
              <a:gdLst/>
              <a:ahLst/>
              <a:cxnLst/>
              <a:rect l="l" t="t" r="r" b="b"/>
              <a:pathLst>
                <a:path w="1943" h="968" extrusionOk="0">
                  <a:moveTo>
                    <a:pt x="239" y="1"/>
                  </a:moveTo>
                  <a:cubicBezTo>
                    <a:pt x="105" y="1"/>
                    <a:pt x="0" y="106"/>
                    <a:pt x="0" y="240"/>
                  </a:cubicBezTo>
                  <a:lnTo>
                    <a:pt x="0" y="728"/>
                  </a:lnTo>
                  <a:cubicBezTo>
                    <a:pt x="0" y="853"/>
                    <a:pt x="105" y="967"/>
                    <a:pt x="239" y="967"/>
                  </a:cubicBezTo>
                  <a:lnTo>
                    <a:pt x="1704" y="967"/>
                  </a:lnTo>
                  <a:cubicBezTo>
                    <a:pt x="1828" y="967"/>
                    <a:pt x="1943" y="853"/>
                    <a:pt x="1943" y="728"/>
                  </a:cubicBezTo>
                  <a:lnTo>
                    <a:pt x="1943" y="240"/>
                  </a:lnTo>
                  <a:cubicBezTo>
                    <a:pt x="1943" y="106"/>
                    <a:pt x="1828" y="1"/>
                    <a:pt x="1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554;p73">
              <a:extLst>
                <a:ext uri="{FF2B5EF4-FFF2-40B4-BE49-F238E27FC236}">
                  <a16:creationId xmlns:a16="http://schemas.microsoft.com/office/drawing/2014/main" id="{4532345C-AF58-C26B-911A-336F9C788093}"/>
                </a:ext>
              </a:extLst>
            </p:cNvPr>
            <p:cNvSpPr/>
            <p:nvPr/>
          </p:nvSpPr>
          <p:spPr>
            <a:xfrm>
              <a:off x="2406825" y="4076932"/>
              <a:ext cx="50787" cy="25393"/>
            </a:xfrm>
            <a:custGeom>
              <a:avLst/>
              <a:gdLst/>
              <a:ahLst/>
              <a:cxnLst/>
              <a:rect l="l" t="t" r="r" b="b"/>
              <a:pathLst>
                <a:path w="1934" h="967" extrusionOk="0">
                  <a:moveTo>
                    <a:pt x="240" y="0"/>
                  </a:moveTo>
                  <a:cubicBezTo>
                    <a:pt x="106" y="0"/>
                    <a:pt x="1" y="106"/>
                    <a:pt x="1" y="240"/>
                  </a:cubicBezTo>
                  <a:lnTo>
                    <a:pt x="1" y="728"/>
                  </a:lnTo>
                  <a:cubicBezTo>
                    <a:pt x="1" y="862"/>
                    <a:pt x="106" y="967"/>
                    <a:pt x="240" y="967"/>
                  </a:cubicBezTo>
                  <a:lnTo>
                    <a:pt x="1695" y="967"/>
                  </a:lnTo>
                  <a:cubicBezTo>
                    <a:pt x="1829" y="967"/>
                    <a:pt x="1934" y="862"/>
                    <a:pt x="1934" y="728"/>
                  </a:cubicBezTo>
                  <a:lnTo>
                    <a:pt x="1934" y="240"/>
                  </a:lnTo>
                  <a:cubicBezTo>
                    <a:pt x="1934" y="106"/>
                    <a:pt x="1829" y="0"/>
                    <a:pt x="16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555;p73">
              <a:extLst>
                <a:ext uri="{FF2B5EF4-FFF2-40B4-BE49-F238E27FC236}">
                  <a16:creationId xmlns:a16="http://schemas.microsoft.com/office/drawing/2014/main" id="{A7686763-F5F4-5AEA-911E-A5776E79098D}"/>
                </a:ext>
              </a:extLst>
            </p:cNvPr>
            <p:cNvSpPr/>
            <p:nvPr/>
          </p:nvSpPr>
          <p:spPr>
            <a:xfrm>
              <a:off x="2493168" y="3968137"/>
              <a:ext cx="56538" cy="38445"/>
            </a:xfrm>
            <a:custGeom>
              <a:avLst/>
              <a:gdLst/>
              <a:ahLst/>
              <a:cxnLst/>
              <a:rect l="l" t="t" r="r" b="b"/>
              <a:pathLst>
                <a:path w="2153" h="1464" extrusionOk="0">
                  <a:moveTo>
                    <a:pt x="1806" y="0"/>
                  </a:moveTo>
                  <a:cubicBezTo>
                    <a:pt x="1750" y="0"/>
                    <a:pt x="1692" y="23"/>
                    <a:pt x="1641" y="76"/>
                  </a:cubicBezTo>
                  <a:lnTo>
                    <a:pt x="837" y="880"/>
                  </a:lnTo>
                  <a:lnTo>
                    <a:pt x="522" y="564"/>
                  </a:lnTo>
                  <a:cubicBezTo>
                    <a:pt x="468" y="511"/>
                    <a:pt x="409" y="488"/>
                    <a:pt x="351" y="488"/>
                  </a:cubicBezTo>
                  <a:cubicBezTo>
                    <a:pt x="163" y="488"/>
                    <a:pt x="1" y="732"/>
                    <a:pt x="177" y="909"/>
                  </a:cubicBezTo>
                  <a:lnTo>
                    <a:pt x="665" y="1397"/>
                  </a:lnTo>
                  <a:cubicBezTo>
                    <a:pt x="713" y="1435"/>
                    <a:pt x="770" y="1464"/>
                    <a:pt x="837" y="1464"/>
                  </a:cubicBezTo>
                  <a:cubicBezTo>
                    <a:pt x="904" y="1464"/>
                    <a:pt x="962" y="1435"/>
                    <a:pt x="1010" y="1397"/>
                  </a:cubicBezTo>
                  <a:lnTo>
                    <a:pt x="1976" y="421"/>
                  </a:lnTo>
                  <a:cubicBezTo>
                    <a:pt x="2153" y="244"/>
                    <a:pt x="1991" y="0"/>
                    <a:pt x="1806" y="0"/>
                  </a:cubicBezTo>
                  <a:close/>
                </a:path>
              </a:pathLst>
            </a:custGeom>
            <a:solidFill>
              <a:srgbClr val="5D7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556;p73">
              <a:extLst>
                <a:ext uri="{FF2B5EF4-FFF2-40B4-BE49-F238E27FC236}">
                  <a16:creationId xmlns:a16="http://schemas.microsoft.com/office/drawing/2014/main" id="{E91AEE07-C75A-AC9B-2BFD-721499789EE4}"/>
                </a:ext>
              </a:extLst>
            </p:cNvPr>
            <p:cNvSpPr/>
            <p:nvPr/>
          </p:nvSpPr>
          <p:spPr>
            <a:xfrm>
              <a:off x="2314495" y="3968137"/>
              <a:ext cx="56590" cy="38445"/>
            </a:xfrm>
            <a:custGeom>
              <a:avLst/>
              <a:gdLst/>
              <a:ahLst/>
              <a:cxnLst/>
              <a:rect l="l" t="t" r="r" b="b"/>
              <a:pathLst>
                <a:path w="2155" h="1464" extrusionOk="0">
                  <a:moveTo>
                    <a:pt x="1810" y="0"/>
                  </a:moveTo>
                  <a:cubicBezTo>
                    <a:pt x="1753" y="0"/>
                    <a:pt x="1694" y="23"/>
                    <a:pt x="1641" y="76"/>
                  </a:cubicBezTo>
                  <a:lnTo>
                    <a:pt x="837" y="880"/>
                  </a:lnTo>
                  <a:lnTo>
                    <a:pt x="521" y="564"/>
                  </a:lnTo>
                  <a:cubicBezTo>
                    <a:pt x="468" y="511"/>
                    <a:pt x="408" y="488"/>
                    <a:pt x="351" y="488"/>
                  </a:cubicBezTo>
                  <a:cubicBezTo>
                    <a:pt x="162" y="488"/>
                    <a:pt x="0" y="732"/>
                    <a:pt x="177" y="909"/>
                  </a:cubicBezTo>
                  <a:lnTo>
                    <a:pt x="665" y="1397"/>
                  </a:lnTo>
                  <a:cubicBezTo>
                    <a:pt x="712" y="1435"/>
                    <a:pt x="770" y="1464"/>
                    <a:pt x="837" y="1464"/>
                  </a:cubicBezTo>
                  <a:cubicBezTo>
                    <a:pt x="904" y="1464"/>
                    <a:pt x="961" y="1435"/>
                    <a:pt x="1009" y="1397"/>
                  </a:cubicBezTo>
                  <a:lnTo>
                    <a:pt x="1985" y="421"/>
                  </a:lnTo>
                  <a:cubicBezTo>
                    <a:pt x="2154" y="244"/>
                    <a:pt x="1996" y="0"/>
                    <a:pt x="1810" y="0"/>
                  </a:cubicBezTo>
                  <a:close/>
                </a:path>
              </a:pathLst>
            </a:custGeom>
            <a:solidFill>
              <a:srgbClr val="5D7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557;p73">
              <a:extLst>
                <a:ext uri="{FF2B5EF4-FFF2-40B4-BE49-F238E27FC236}">
                  <a16:creationId xmlns:a16="http://schemas.microsoft.com/office/drawing/2014/main" id="{BB298AAD-C425-EBFE-0141-22C5DB7B363A}"/>
                </a:ext>
              </a:extLst>
            </p:cNvPr>
            <p:cNvSpPr/>
            <p:nvPr/>
          </p:nvSpPr>
          <p:spPr>
            <a:xfrm>
              <a:off x="2403963" y="4019160"/>
              <a:ext cx="56538" cy="38445"/>
            </a:xfrm>
            <a:custGeom>
              <a:avLst/>
              <a:gdLst/>
              <a:ahLst/>
              <a:cxnLst/>
              <a:rect l="l" t="t" r="r" b="b"/>
              <a:pathLst>
                <a:path w="2153" h="1464" extrusionOk="0">
                  <a:moveTo>
                    <a:pt x="1801" y="0"/>
                  </a:moveTo>
                  <a:cubicBezTo>
                    <a:pt x="1744" y="0"/>
                    <a:pt x="1685" y="22"/>
                    <a:pt x="1631" y="76"/>
                  </a:cubicBezTo>
                  <a:lnTo>
                    <a:pt x="837" y="880"/>
                  </a:lnTo>
                  <a:lnTo>
                    <a:pt x="521" y="564"/>
                  </a:lnTo>
                  <a:cubicBezTo>
                    <a:pt x="468" y="510"/>
                    <a:pt x="408" y="488"/>
                    <a:pt x="351" y="488"/>
                  </a:cubicBezTo>
                  <a:cubicBezTo>
                    <a:pt x="162" y="488"/>
                    <a:pt x="0" y="732"/>
                    <a:pt x="177" y="908"/>
                  </a:cubicBezTo>
                  <a:lnTo>
                    <a:pt x="665" y="1396"/>
                  </a:lnTo>
                  <a:cubicBezTo>
                    <a:pt x="703" y="1435"/>
                    <a:pt x="770" y="1463"/>
                    <a:pt x="837" y="1463"/>
                  </a:cubicBezTo>
                  <a:cubicBezTo>
                    <a:pt x="894" y="1463"/>
                    <a:pt x="961" y="1444"/>
                    <a:pt x="1000" y="1396"/>
                  </a:cubicBezTo>
                  <a:lnTo>
                    <a:pt x="1976" y="420"/>
                  </a:lnTo>
                  <a:cubicBezTo>
                    <a:pt x="2152" y="244"/>
                    <a:pt x="1990" y="0"/>
                    <a:pt x="1801" y="0"/>
                  </a:cubicBezTo>
                  <a:close/>
                </a:path>
              </a:pathLst>
            </a:custGeom>
            <a:solidFill>
              <a:srgbClr val="5D7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558;p73">
              <a:extLst>
                <a:ext uri="{FF2B5EF4-FFF2-40B4-BE49-F238E27FC236}">
                  <a16:creationId xmlns:a16="http://schemas.microsoft.com/office/drawing/2014/main" id="{9D3AB4DA-5E12-9E56-5258-70E7910E5825}"/>
                </a:ext>
              </a:extLst>
            </p:cNvPr>
            <p:cNvSpPr/>
            <p:nvPr/>
          </p:nvSpPr>
          <p:spPr>
            <a:xfrm>
              <a:off x="2225263" y="4070157"/>
              <a:ext cx="56538" cy="38471"/>
            </a:xfrm>
            <a:custGeom>
              <a:avLst/>
              <a:gdLst/>
              <a:ahLst/>
              <a:cxnLst/>
              <a:rect l="l" t="t" r="r" b="b"/>
              <a:pathLst>
                <a:path w="2153" h="1465" extrusionOk="0">
                  <a:moveTo>
                    <a:pt x="1802" y="1"/>
                  </a:moveTo>
                  <a:cubicBezTo>
                    <a:pt x="1745" y="1"/>
                    <a:pt x="1685" y="23"/>
                    <a:pt x="1632" y="77"/>
                  </a:cubicBezTo>
                  <a:lnTo>
                    <a:pt x="837" y="880"/>
                  </a:lnTo>
                  <a:lnTo>
                    <a:pt x="522" y="565"/>
                  </a:lnTo>
                  <a:cubicBezTo>
                    <a:pt x="468" y="511"/>
                    <a:pt x="409" y="489"/>
                    <a:pt x="352" y="489"/>
                  </a:cubicBezTo>
                  <a:cubicBezTo>
                    <a:pt x="163" y="489"/>
                    <a:pt x="1" y="733"/>
                    <a:pt x="177" y="909"/>
                  </a:cubicBezTo>
                  <a:lnTo>
                    <a:pt x="665" y="1397"/>
                  </a:lnTo>
                  <a:cubicBezTo>
                    <a:pt x="703" y="1445"/>
                    <a:pt x="770" y="1464"/>
                    <a:pt x="837" y="1464"/>
                  </a:cubicBezTo>
                  <a:cubicBezTo>
                    <a:pt x="895" y="1464"/>
                    <a:pt x="962" y="1445"/>
                    <a:pt x="1000" y="1397"/>
                  </a:cubicBezTo>
                  <a:lnTo>
                    <a:pt x="1976" y="421"/>
                  </a:lnTo>
                  <a:cubicBezTo>
                    <a:pt x="2153" y="245"/>
                    <a:pt x="1991" y="1"/>
                    <a:pt x="1802" y="1"/>
                  </a:cubicBezTo>
                  <a:close/>
                </a:path>
              </a:pathLst>
            </a:custGeom>
            <a:solidFill>
              <a:srgbClr val="5D7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559;p73">
              <a:extLst>
                <a:ext uri="{FF2B5EF4-FFF2-40B4-BE49-F238E27FC236}">
                  <a16:creationId xmlns:a16="http://schemas.microsoft.com/office/drawing/2014/main" id="{D925F516-0773-45C1-D0A6-B279AD3D98E7}"/>
                </a:ext>
              </a:extLst>
            </p:cNvPr>
            <p:cNvSpPr/>
            <p:nvPr/>
          </p:nvSpPr>
          <p:spPr>
            <a:xfrm>
              <a:off x="2403963" y="3917113"/>
              <a:ext cx="56538" cy="38445"/>
            </a:xfrm>
            <a:custGeom>
              <a:avLst/>
              <a:gdLst/>
              <a:ahLst/>
              <a:cxnLst/>
              <a:rect l="l" t="t" r="r" b="b"/>
              <a:pathLst>
                <a:path w="2153" h="1464" extrusionOk="0">
                  <a:moveTo>
                    <a:pt x="1801" y="1"/>
                  </a:moveTo>
                  <a:cubicBezTo>
                    <a:pt x="1744" y="1"/>
                    <a:pt x="1685" y="23"/>
                    <a:pt x="1631" y="76"/>
                  </a:cubicBezTo>
                  <a:lnTo>
                    <a:pt x="837" y="880"/>
                  </a:lnTo>
                  <a:lnTo>
                    <a:pt x="521" y="564"/>
                  </a:lnTo>
                  <a:cubicBezTo>
                    <a:pt x="468" y="511"/>
                    <a:pt x="408" y="489"/>
                    <a:pt x="351" y="489"/>
                  </a:cubicBezTo>
                  <a:cubicBezTo>
                    <a:pt x="162" y="489"/>
                    <a:pt x="0" y="733"/>
                    <a:pt x="177" y="909"/>
                  </a:cubicBezTo>
                  <a:lnTo>
                    <a:pt x="665" y="1387"/>
                  </a:lnTo>
                  <a:cubicBezTo>
                    <a:pt x="703" y="1435"/>
                    <a:pt x="770" y="1464"/>
                    <a:pt x="837" y="1464"/>
                  </a:cubicBezTo>
                  <a:cubicBezTo>
                    <a:pt x="894" y="1464"/>
                    <a:pt x="961" y="1435"/>
                    <a:pt x="1000" y="1387"/>
                  </a:cubicBezTo>
                  <a:lnTo>
                    <a:pt x="1976" y="421"/>
                  </a:lnTo>
                  <a:cubicBezTo>
                    <a:pt x="2152" y="244"/>
                    <a:pt x="1990" y="1"/>
                    <a:pt x="1801" y="1"/>
                  </a:cubicBezTo>
                  <a:close/>
                </a:path>
              </a:pathLst>
            </a:custGeom>
            <a:solidFill>
              <a:srgbClr val="5D74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A5679D32-186D-CE35-C8A6-A3BA5A5372E0}"/>
              </a:ext>
            </a:extLst>
          </p:cNvPr>
          <p:cNvSpPr txBox="1"/>
          <p:nvPr/>
        </p:nvSpPr>
        <p:spPr>
          <a:xfrm>
            <a:off x="1444633" y="3236796"/>
            <a:ext cx="10429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u="sng" cap="all" spc="150" dirty="0"/>
              <a:t>Период исследования</a:t>
            </a:r>
            <a:r>
              <a:rPr lang="ru-RU" sz="1400" cap="all" spc="150" dirty="0"/>
              <a:t>: 1-7 сентября 2022 г.</a:t>
            </a:r>
          </a:p>
        </p:txBody>
      </p:sp>
      <p:grpSp>
        <p:nvGrpSpPr>
          <p:cNvPr id="115" name="Google Shape;9466;p73">
            <a:extLst>
              <a:ext uri="{FF2B5EF4-FFF2-40B4-BE49-F238E27FC236}">
                <a16:creationId xmlns:a16="http://schemas.microsoft.com/office/drawing/2014/main" id="{38D90906-3F1B-A68F-C7D1-B8C2BF6D96BD}"/>
              </a:ext>
            </a:extLst>
          </p:cNvPr>
          <p:cNvGrpSpPr/>
          <p:nvPr/>
        </p:nvGrpSpPr>
        <p:grpSpPr>
          <a:xfrm>
            <a:off x="854425" y="4002122"/>
            <a:ext cx="320188" cy="319269"/>
            <a:chOff x="3544540" y="3380963"/>
            <a:chExt cx="320188" cy="319269"/>
          </a:xfrm>
        </p:grpSpPr>
        <p:sp>
          <p:nvSpPr>
            <p:cNvPr id="116" name="Google Shape;9467;p73">
              <a:extLst>
                <a:ext uri="{FF2B5EF4-FFF2-40B4-BE49-F238E27FC236}">
                  <a16:creationId xmlns:a16="http://schemas.microsoft.com/office/drawing/2014/main" id="{75E02D47-186E-8831-0BB3-685A65E85E4C}"/>
                </a:ext>
              </a:extLst>
            </p:cNvPr>
            <p:cNvSpPr/>
            <p:nvPr/>
          </p:nvSpPr>
          <p:spPr>
            <a:xfrm>
              <a:off x="3636528" y="3558218"/>
              <a:ext cx="51023" cy="51049"/>
            </a:xfrm>
            <a:custGeom>
              <a:avLst/>
              <a:gdLst/>
              <a:ahLst/>
              <a:cxnLst/>
              <a:rect l="l" t="t" r="r" b="b"/>
              <a:pathLst>
                <a:path w="1943" h="1944" extrusionOk="0">
                  <a:moveTo>
                    <a:pt x="1196" y="0"/>
                  </a:moveTo>
                  <a:lnTo>
                    <a:pt x="0" y="1197"/>
                  </a:lnTo>
                  <a:cubicBezTo>
                    <a:pt x="86" y="1216"/>
                    <a:pt x="172" y="1254"/>
                    <a:pt x="239" y="1321"/>
                  </a:cubicBezTo>
                  <a:lnTo>
                    <a:pt x="622" y="1704"/>
                  </a:lnTo>
                  <a:cubicBezTo>
                    <a:pt x="689" y="1771"/>
                    <a:pt x="727" y="1857"/>
                    <a:pt x="747" y="1943"/>
                  </a:cubicBezTo>
                  <a:lnTo>
                    <a:pt x="1943" y="747"/>
                  </a:lnTo>
                  <a:cubicBezTo>
                    <a:pt x="1656" y="536"/>
                    <a:pt x="1407" y="287"/>
                    <a:pt x="1196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468;p73">
              <a:extLst>
                <a:ext uri="{FF2B5EF4-FFF2-40B4-BE49-F238E27FC236}">
                  <a16:creationId xmlns:a16="http://schemas.microsoft.com/office/drawing/2014/main" id="{43D73FA4-E553-67FC-DAE3-63ED69B768B7}"/>
                </a:ext>
              </a:extLst>
            </p:cNvPr>
            <p:cNvSpPr/>
            <p:nvPr/>
          </p:nvSpPr>
          <p:spPr>
            <a:xfrm>
              <a:off x="3636765" y="3558454"/>
              <a:ext cx="40992" cy="50813"/>
            </a:xfrm>
            <a:custGeom>
              <a:avLst/>
              <a:gdLst/>
              <a:ahLst/>
              <a:cxnLst/>
              <a:rect l="l" t="t" r="r" b="b"/>
              <a:pathLst>
                <a:path w="1561" h="1935" extrusionOk="0">
                  <a:moveTo>
                    <a:pt x="1197" y="1"/>
                  </a:moveTo>
                  <a:lnTo>
                    <a:pt x="1" y="1197"/>
                  </a:lnTo>
                  <a:cubicBezTo>
                    <a:pt x="87" y="1207"/>
                    <a:pt x="173" y="1245"/>
                    <a:pt x="240" y="1312"/>
                  </a:cubicBezTo>
                  <a:lnTo>
                    <a:pt x="623" y="1695"/>
                  </a:lnTo>
                  <a:cubicBezTo>
                    <a:pt x="690" y="1762"/>
                    <a:pt x="728" y="1848"/>
                    <a:pt x="747" y="1934"/>
                  </a:cubicBezTo>
                  <a:lnTo>
                    <a:pt x="1197" y="1484"/>
                  </a:lnTo>
                  <a:lnTo>
                    <a:pt x="1034" y="1312"/>
                  </a:lnTo>
                  <a:lnTo>
                    <a:pt x="1015" y="1312"/>
                  </a:lnTo>
                  <a:cubicBezTo>
                    <a:pt x="910" y="1216"/>
                    <a:pt x="910" y="1063"/>
                    <a:pt x="1015" y="968"/>
                  </a:cubicBezTo>
                  <a:lnTo>
                    <a:pt x="1561" y="412"/>
                  </a:lnTo>
                  <a:cubicBezTo>
                    <a:pt x="1427" y="288"/>
                    <a:pt x="1312" y="145"/>
                    <a:pt x="1197" y="1"/>
                  </a:cubicBezTo>
                  <a:close/>
                </a:path>
              </a:pathLst>
            </a:custGeom>
            <a:solidFill>
              <a:srgbClr val="B4C0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469;p73">
              <a:extLst>
                <a:ext uri="{FF2B5EF4-FFF2-40B4-BE49-F238E27FC236}">
                  <a16:creationId xmlns:a16="http://schemas.microsoft.com/office/drawing/2014/main" id="{B5085D85-63B7-ECAD-56AB-8A56A6C8BFDA}"/>
                </a:ext>
              </a:extLst>
            </p:cNvPr>
            <p:cNvSpPr/>
            <p:nvPr/>
          </p:nvSpPr>
          <p:spPr>
            <a:xfrm>
              <a:off x="3632248" y="3380963"/>
              <a:ext cx="232480" cy="221897"/>
            </a:xfrm>
            <a:custGeom>
              <a:avLst/>
              <a:gdLst/>
              <a:ahLst/>
              <a:cxnLst/>
              <a:rect l="l" t="t" r="r" b="b"/>
              <a:pathLst>
                <a:path w="8853" h="8450" extrusionOk="0">
                  <a:moveTo>
                    <a:pt x="4639" y="0"/>
                  </a:moveTo>
                  <a:cubicBezTo>
                    <a:pt x="3537" y="0"/>
                    <a:pt x="2454" y="430"/>
                    <a:pt x="1646" y="1238"/>
                  </a:cubicBezTo>
                  <a:cubicBezTo>
                    <a:pt x="0" y="2894"/>
                    <a:pt x="0" y="5564"/>
                    <a:pt x="1646" y="7210"/>
                  </a:cubicBezTo>
                  <a:cubicBezTo>
                    <a:pt x="2452" y="8022"/>
                    <a:pt x="3532" y="8450"/>
                    <a:pt x="4631" y="8450"/>
                  </a:cubicBezTo>
                  <a:cubicBezTo>
                    <a:pt x="5176" y="8450"/>
                    <a:pt x="5726" y="8344"/>
                    <a:pt x="6250" y="8128"/>
                  </a:cubicBezTo>
                  <a:cubicBezTo>
                    <a:pt x="7829" y="7478"/>
                    <a:pt x="8853" y="5937"/>
                    <a:pt x="8853" y="4224"/>
                  </a:cubicBezTo>
                  <a:cubicBezTo>
                    <a:pt x="8853" y="2520"/>
                    <a:pt x="7829" y="980"/>
                    <a:pt x="6250" y="319"/>
                  </a:cubicBezTo>
                  <a:cubicBezTo>
                    <a:pt x="5729" y="104"/>
                    <a:pt x="5182" y="0"/>
                    <a:pt x="4639" y="0"/>
                  </a:cubicBezTo>
                  <a:close/>
                </a:path>
              </a:pathLst>
            </a:custGeom>
            <a:solidFill>
              <a:srgbClr val="E5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470;p73">
              <a:extLst>
                <a:ext uri="{FF2B5EF4-FFF2-40B4-BE49-F238E27FC236}">
                  <a16:creationId xmlns:a16="http://schemas.microsoft.com/office/drawing/2014/main" id="{9AA39CE0-A24B-665B-3470-F247775DDECE}"/>
                </a:ext>
              </a:extLst>
            </p:cNvPr>
            <p:cNvSpPr/>
            <p:nvPr/>
          </p:nvSpPr>
          <p:spPr>
            <a:xfrm>
              <a:off x="3627731" y="3381094"/>
              <a:ext cx="135738" cy="221792"/>
            </a:xfrm>
            <a:custGeom>
              <a:avLst/>
              <a:gdLst/>
              <a:ahLst/>
              <a:cxnLst/>
              <a:rect l="l" t="t" r="r" b="b"/>
              <a:pathLst>
                <a:path w="5169" h="8446" extrusionOk="0">
                  <a:moveTo>
                    <a:pt x="4787" y="0"/>
                  </a:moveTo>
                  <a:cubicBezTo>
                    <a:pt x="2484" y="0"/>
                    <a:pt x="574" y="1869"/>
                    <a:pt x="574" y="4219"/>
                  </a:cubicBezTo>
                  <a:cubicBezTo>
                    <a:pt x="574" y="6574"/>
                    <a:pt x="2492" y="8445"/>
                    <a:pt x="4802" y="8445"/>
                  </a:cubicBezTo>
                  <a:cubicBezTo>
                    <a:pt x="4923" y="8445"/>
                    <a:pt x="5045" y="8440"/>
                    <a:pt x="5168" y="8430"/>
                  </a:cubicBezTo>
                  <a:cubicBezTo>
                    <a:pt x="4173" y="8344"/>
                    <a:pt x="3244" y="7913"/>
                    <a:pt x="2546" y="7205"/>
                  </a:cubicBezTo>
                  <a:cubicBezTo>
                    <a:pt x="0" y="4669"/>
                    <a:pt x="1589" y="314"/>
                    <a:pt x="5168" y="17"/>
                  </a:cubicBezTo>
                  <a:cubicBezTo>
                    <a:pt x="5040" y="6"/>
                    <a:pt x="4913" y="0"/>
                    <a:pt x="4787" y="0"/>
                  </a:cubicBezTo>
                  <a:close/>
                </a:path>
              </a:pathLst>
            </a:custGeom>
            <a:solidFill>
              <a:srgbClr val="E2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471;p73">
              <a:extLst>
                <a:ext uri="{FF2B5EF4-FFF2-40B4-BE49-F238E27FC236}">
                  <a16:creationId xmlns:a16="http://schemas.microsoft.com/office/drawing/2014/main" id="{57F7ACF5-C66F-50B3-83C3-3F8D01FFA4AF}"/>
                </a:ext>
              </a:extLst>
            </p:cNvPr>
            <p:cNvSpPr/>
            <p:nvPr/>
          </p:nvSpPr>
          <p:spPr>
            <a:xfrm>
              <a:off x="3664154" y="3402050"/>
              <a:ext cx="188258" cy="179723"/>
            </a:xfrm>
            <a:custGeom>
              <a:avLst/>
              <a:gdLst/>
              <a:ahLst/>
              <a:cxnLst/>
              <a:rect l="l" t="t" r="r" b="b"/>
              <a:pathLst>
                <a:path w="7169" h="6844" extrusionOk="0">
                  <a:moveTo>
                    <a:pt x="3443" y="0"/>
                  </a:moveTo>
                  <a:cubicBezTo>
                    <a:pt x="1686" y="0"/>
                    <a:pt x="1" y="1362"/>
                    <a:pt x="1" y="3421"/>
                  </a:cubicBezTo>
                  <a:cubicBezTo>
                    <a:pt x="1" y="4809"/>
                    <a:pt x="833" y="6053"/>
                    <a:pt x="2106" y="6579"/>
                  </a:cubicBezTo>
                  <a:cubicBezTo>
                    <a:pt x="2532" y="6757"/>
                    <a:pt x="2978" y="6843"/>
                    <a:pt x="3419" y="6843"/>
                  </a:cubicBezTo>
                  <a:cubicBezTo>
                    <a:pt x="4308" y="6843"/>
                    <a:pt x="5180" y="6494"/>
                    <a:pt x="5839" y="5842"/>
                  </a:cubicBezTo>
                  <a:cubicBezTo>
                    <a:pt x="7169" y="4502"/>
                    <a:pt x="7169" y="2339"/>
                    <a:pt x="5839" y="1009"/>
                  </a:cubicBezTo>
                  <a:cubicBezTo>
                    <a:pt x="5142" y="312"/>
                    <a:pt x="4284" y="0"/>
                    <a:pt x="3443" y="0"/>
                  </a:cubicBezTo>
                  <a:close/>
                </a:path>
              </a:pathLst>
            </a:custGeom>
            <a:solidFill>
              <a:srgbClr val="8596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472;p73">
              <a:extLst>
                <a:ext uri="{FF2B5EF4-FFF2-40B4-BE49-F238E27FC236}">
                  <a16:creationId xmlns:a16="http://schemas.microsoft.com/office/drawing/2014/main" id="{857E9451-3DCD-8CE2-04E0-7CF540A9D767}"/>
                </a:ext>
              </a:extLst>
            </p:cNvPr>
            <p:cNvSpPr/>
            <p:nvPr/>
          </p:nvSpPr>
          <p:spPr>
            <a:xfrm>
              <a:off x="3656381" y="3402102"/>
              <a:ext cx="107088" cy="179540"/>
            </a:xfrm>
            <a:custGeom>
              <a:avLst/>
              <a:gdLst/>
              <a:ahLst/>
              <a:cxnLst/>
              <a:rect l="l" t="t" r="r" b="b"/>
              <a:pathLst>
                <a:path w="4078" h="6837" extrusionOk="0">
                  <a:moveTo>
                    <a:pt x="3703" y="1"/>
                  </a:moveTo>
                  <a:cubicBezTo>
                    <a:pt x="1844" y="1"/>
                    <a:pt x="287" y="1516"/>
                    <a:pt x="287" y="3419"/>
                  </a:cubicBezTo>
                  <a:cubicBezTo>
                    <a:pt x="287" y="5330"/>
                    <a:pt x="1843" y="6837"/>
                    <a:pt x="3701" y="6837"/>
                  </a:cubicBezTo>
                  <a:cubicBezTo>
                    <a:pt x="3825" y="6837"/>
                    <a:pt x="3951" y="6830"/>
                    <a:pt x="4077" y="6816"/>
                  </a:cubicBezTo>
                  <a:cubicBezTo>
                    <a:pt x="3302" y="6740"/>
                    <a:pt x="2584" y="6395"/>
                    <a:pt x="2029" y="5840"/>
                  </a:cubicBezTo>
                  <a:cubicBezTo>
                    <a:pt x="0" y="3811"/>
                    <a:pt x="1225" y="328"/>
                    <a:pt x="4077" y="21"/>
                  </a:cubicBezTo>
                  <a:cubicBezTo>
                    <a:pt x="3951" y="8"/>
                    <a:pt x="3826" y="1"/>
                    <a:pt x="3703" y="1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473;p73">
              <a:extLst>
                <a:ext uri="{FF2B5EF4-FFF2-40B4-BE49-F238E27FC236}">
                  <a16:creationId xmlns:a16="http://schemas.microsoft.com/office/drawing/2014/main" id="{FA767F4A-2582-3F7D-E486-C0996E1EEC35}"/>
                </a:ext>
              </a:extLst>
            </p:cNvPr>
            <p:cNvSpPr/>
            <p:nvPr/>
          </p:nvSpPr>
          <p:spPr>
            <a:xfrm>
              <a:off x="3729252" y="3437579"/>
              <a:ext cx="49290" cy="49027"/>
            </a:xfrm>
            <a:custGeom>
              <a:avLst/>
              <a:gdLst/>
              <a:ahLst/>
              <a:cxnLst/>
              <a:rect l="l" t="t" r="r" b="b"/>
              <a:pathLst>
                <a:path w="1877" h="1867" extrusionOk="0">
                  <a:moveTo>
                    <a:pt x="938" y="1"/>
                  </a:moveTo>
                  <a:cubicBezTo>
                    <a:pt x="422" y="1"/>
                    <a:pt x="0" y="422"/>
                    <a:pt x="0" y="939"/>
                  </a:cubicBezTo>
                  <a:cubicBezTo>
                    <a:pt x="0" y="1455"/>
                    <a:pt x="422" y="1867"/>
                    <a:pt x="938" y="1867"/>
                  </a:cubicBezTo>
                  <a:cubicBezTo>
                    <a:pt x="1455" y="1867"/>
                    <a:pt x="1876" y="1455"/>
                    <a:pt x="1876" y="939"/>
                  </a:cubicBezTo>
                  <a:cubicBezTo>
                    <a:pt x="1876" y="422"/>
                    <a:pt x="1455" y="1"/>
                    <a:pt x="938" y="1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474;p73">
              <a:extLst>
                <a:ext uri="{FF2B5EF4-FFF2-40B4-BE49-F238E27FC236}">
                  <a16:creationId xmlns:a16="http://schemas.microsoft.com/office/drawing/2014/main" id="{80BE5A59-934B-08E7-4741-11A11C874913}"/>
                </a:ext>
              </a:extLst>
            </p:cNvPr>
            <p:cNvSpPr/>
            <p:nvPr/>
          </p:nvSpPr>
          <p:spPr>
            <a:xfrm>
              <a:off x="3729252" y="3437658"/>
              <a:ext cx="34217" cy="49132"/>
            </a:xfrm>
            <a:custGeom>
              <a:avLst/>
              <a:gdLst/>
              <a:ahLst/>
              <a:cxnLst/>
              <a:rect l="l" t="t" r="r" b="b"/>
              <a:pathLst>
                <a:path w="1303" h="1871" extrusionOk="0">
                  <a:moveTo>
                    <a:pt x="940" y="0"/>
                  </a:moveTo>
                  <a:cubicBezTo>
                    <a:pt x="446" y="0"/>
                    <a:pt x="0" y="397"/>
                    <a:pt x="0" y="936"/>
                  </a:cubicBezTo>
                  <a:cubicBezTo>
                    <a:pt x="0" y="1474"/>
                    <a:pt x="446" y="1871"/>
                    <a:pt x="940" y="1871"/>
                  </a:cubicBezTo>
                  <a:cubicBezTo>
                    <a:pt x="1059" y="1871"/>
                    <a:pt x="1182" y="1847"/>
                    <a:pt x="1302" y="1797"/>
                  </a:cubicBezTo>
                  <a:cubicBezTo>
                    <a:pt x="958" y="1644"/>
                    <a:pt x="737" y="1309"/>
                    <a:pt x="737" y="936"/>
                  </a:cubicBezTo>
                  <a:cubicBezTo>
                    <a:pt x="737" y="562"/>
                    <a:pt x="958" y="218"/>
                    <a:pt x="1302" y="74"/>
                  </a:cubicBezTo>
                  <a:cubicBezTo>
                    <a:pt x="1182" y="24"/>
                    <a:pt x="1059" y="0"/>
                    <a:pt x="940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475;p73">
              <a:extLst>
                <a:ext uri="{FF2B5EF4-FFF2-40B4-BE49-F238E27FC236}">
                  <a16:creationId xmlns:a16="http://schemas.microsoft.com/office/drawing/2014/main" id="{C5434B8F-83FD-38C1-7D9E-FC020030511A}"/>
                </a:ext>
              </a:extLst>
            </p:cNvPr>
            <p:cNvSpPr/>
            <p:nvPr/>
          </p:nvSpPr>
          <p:spPr>
            <a:xfrm>
              <a:off x="3713680" y="3486581"/>
              <a:ext cx="80434" cy="51548"/>
            </a:xfrm>
            <a:custGeom>
              <a:avLst/>
              <a:gdLst/>
              <a:ahLst/>
              <a:cxnLst/>
              <a:rect l="l" t="t" r="r" b="b"/>
              <a:pathLst>
                <a:path w="3063" h="1963" extrusionOk="0">
                  <a:moveTo>
                    <a:pt x="1005" y="1"/>
                  </a:moveTo>
                  <a:cubicBezTo>
                    <a:pt x="450" y="10"/>
                    <a:pt x="0" y="451"/>
                    <a:pt x="0" y="1006"/>
                  </a:cubicBezTo>
                  <a:lnTo>
                    <a:pt x="0" y="1790"/>
                  </a:lnTo>
                  <a:cubicBezTo>
                    <a:pt x="0" y="1886"/>
                    <a:pt x="77" y="1963"/>
                    <a:pt x="172" y="1963"/>
                  </a:cubicBezTo>
                  <a:lnTo>
                    <a:pt x="2890" y="1963"/>
                  </a:lnTo>
                  <a:cubicBezTo>
                    <a:pt x="2986" y="1963"/>
                    <a:pt x="3063" y="1886"/>
                    <a:pt x="3063" y="1790"/>
                  </a:cubicBezTo>
                  <a:lnTo>
                    <a:pt x="3063" y="1006"/>
                  </a:lnTo>
                  <a:cubicBezTo>
                    <a:pt x="3063" y="451"/>
                    <a:pt x="2613" y="10"/>
                    <a:pt x="2058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476;p73">
              <a:extLst>
                <a:ext uri="{FF2B5EF4-FFF2-40B4-BE49-F238E27FC236}">
                  <a16:creationId xmlns:a16="http://schemas.microsoft.com/office/drawing/2014/main" id="{5B2C446E-EC19-6C92-FD81-A1ADB61591B7}"/>
                </a:ext>
              </a:extLst>
            </p:cNvPr>
            <p:cNvSpPr/>
            <p:nvPr/>
          </p:nvSpPr>
          <p:spPr>
            <a:xfrm>
              <a:off x="3713680" y="3486581"/>
              <a:ext cx="45745" cy="51548"/>
            </a:xfrm>
            <a:custGeom>
              <a:avLst/>
              <a:gdLst/>
              <a:ahLst/>
              <a:cxnLst/>
              <a:rect l="l" t="t" r="r" b="b"/>
              <a:pathLst>
                <a:path w="1742" h="1963" extrusionOk="0">
                  <a:moveTo>
                    <a:pt x="1005" y="1"/>
                  </a:moveTo>
                  <a:cubicBezTo>
                    <a:pt x="450" y="10"/>
                    <a:pt x="0" y="451"/>
                    <a:pt x="0" y="1006"/>
                  </a:cubicBezTo>
                  <a:lnTo>
                    <a:pt x="0" y="1790"/>
                  </a:lnTo>
                  <a:cubicBezTo>
                    <a:pt x="0" y="1886"/>
                    <a:pt x="77" y="1963"/>
                    <a:pt x="172" y="1963"/>
                  </a:cubicBezTo>
                  <a:lnTo>
                    <a:pt x="909" y="1963"/>
                  </a:lnTo>
                  <a:cubicBezTo>
                    <a:pt x="814" y="1963"/>
                    <a:pt x="737" y="1886"/>
                    <a:pt x="737" y="1790"/>
                  </a:cubicBezTo>
                  <a:lnTo>
                    <a:pt x="737" y="1006"/>
                  </a:lnTo>
                  <a:cubicBezTo>
                    <a:pt x="737" y="451"/>
                    <a:pt x="1187" y="10"/>
                    <a:pt x="1742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477;p73">
              <a:extLst>
                <a:ext uri="{FF2B5EF4-FFF2-40B4-BE49-F238E27FC236}">
                  <a16:creationId xmlns:a16="http://schemas.microsoft.com/office/drawing/2014/main" id="{CE83313D-C9E8-CB1B-6219-6C5CA16833E7}"/>
                </a:ext>
              </a:extLst>
            </p:cNvPr>
            <p:cNvSpPr/>
            <p:nvPr/>
          </p:nvSpPr>
          <p:spPr>
            <a:xfrm>
              <a:off x="3728990" y="3507274"/>
              <a:ext cx="9847" cy="30856"/>
            </a:xfrm>
            <a:custGeom>
              <a:avLst/>
              <a:gdLst/>
              <a:ahLst/>
              <a:cxnLst/>
              <a:rect l="l" t="t" r="r" b="b"/>
              <a:pathLst>
                <a:path w="375" h="1175" extrusionOk="0">
                  <a:moveTo>
                    <a:pt x="188" y="0"/>
                  </a:moveTo>
                  <a:cubicBezTo>
                    <a:pt x="94" y="0"/>
                    <a:pt x="1" y="60"/>
                    <a:pt x="1" y="179"/>
                  </a:cubicBezTo>
                  <a:lnTo>
                    <a:pt x="1" y="1175"/>
                  </a:lnTo>
                  <a:lnTo>
                    <a:pt x="374" y="1175"/>
                  </a:lnTo>
                  <a:lnTo>
                    <a:pt x="374" y="179"/>
                  </a:lnTo>
                  <a:cubicBezTo>
                    <a:pt x="374" y="60"/>
                    <a:pt x="281" y="0"/>
                    <a:pt x="18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478;p73">
              <a:extLst>
                <a:ext uri="{FF2B5EF4-FFF2-40B4-BE49-F238E27FC236}">
                  <a16:creationId xmlns:a16="http://schemas.microsoft.com/office/drawing/2014/main" id="{F2F43505-F583-D542-5741-8EDA1F9150B9}"/>
                </a:ext>
              </a:extLst>
            </p:cNvPr>
            <p:cNvSpPr/>
            <p:nvPr/>
          </p:nvSpPr>
          <p:spPr>
            <a:xfrm>
              <a:off x="3768958" y="3507274"/>
              <a:ext cx="9821" cy="30856"/>
            </a:xfrm>
            <a:custGeom>
              <a:avLst/>
              <a:gdLst/>
              <a:ahLst/>
              <a:cxnLst/>
              <a:rect l="l" t="t" r="r" b="b"/>
              <a:pathLst>
                <a:path w="374" h="1175" extrusionOk="0">
                  <a:moveTo>
                    <a:pt x="187" y="0"/>
                  </a:moveTo>
                  <a:cubicBezTo>
                    <a:pt x="94" y="0"/>
                    <a:pt x="1" y="60"/>
                    <a:pt x="1" y="179"/>
                  </a:cubicBezTo>
                  <a:lnTo>
                    <a:pt x="1" y="1175"/>
                  </a:lnTo>
                  <a:lnTo>
                    <a:pt x="374" y="1175"/>
                  </a:lnTo>
                  <a:lnTo>
                    <a:pt x="374" y="179"/>
                  </a:lnTo>
                  <a:cubicBezTo>
                    <a:pt x="374" y="60"/>
                    <a:pt x="281" y="0"/>
                    <a:pt x="187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479;p73">
              <a:extLst>
                <a:ext uri="{FF2B5EF4-FFF2-40B4-BE49-F238E27FC236}">
                  <a16:creationId xmlns:a16="http://schemas.microsoft.com/office/drawing/2014/main" id="{B8BDE0F1-0799-7529-E639-4420A73C2E9A}"/>
                </a:ext>
              </a:extLst>
            </p:cNvPr>
            <p:cNvSpPr/>
            <p:nvPr/>
          </p:nvSpPr>
          <p:spPr>
            <a:xfrm>
              <a:off x="3544540" y="3586342"/>
              <a:ext cx="116384" cy="113890"/>
            </a:xfrm>
            <a:custGeom>
              <a:avLst/>
              <a:gdLst/>
              <a:ahLst/>
              <a:cxnLst/>
              <a:rect l="l" t="t" r="r" b="b"/>
              <a:pathLst>
                <a:path w="4432" h="4337" extrusionOk="0">
                  <a:moveTo>
                    <a:pt x="3517" y="0"/>
                  </a:moveTo>
                  <a:cubicBezTo>
                    <a:pt x="3391" y="0"/>
                    <a:pt x="3265" y="48"/>
                    <a:pt x="3168" y="145"/>
                  </a:cubicBezTo>
                  <a:lnTo>
                    <a:pt x="192" y="3121"/>
                  </a:lnTo>
                  <a:cubicBezTo>
                    <a:pt x="0" y="3313"/>
                    <a:pt x="0" y="3619"/>
                    <a:pt x="192" y="3810"/>
                  </a:cubicBezTo>
                  <a:lnTo>
                    <a:pt x="575" y="4193"/>
                  </a:lnTo>
                  <a:cubicBezTo>
                    <a:pt x="670" y="4289"/>
                    <a:pt x="795" y="4337"/>
                    <a:pt x="919" y="4337"/>
                  </a:cubicBezTo>
                  <a:cubicBezTo>
                    <a:pt x="1043" y="4337"/>
                    <a:pt x="1168" y="4289"/>
                    <a:pt x="1264" y="4193"/>
                  </a:cubicBezTo>
                  <a:lnTo>
                    <a:pt x="4240" y="1207"/>
                  </a:lnTo>
                  <a:cubicBezTo>
                    <a:pt x="4431" y="1016"/>
                    <a:pt x="4431" y="709"/>
                    <a:pt x="4240" y="528"/>
                  </a:cubicBezTo>
                  <a:lnTo>
                    <a:pt x="3857" y="135"/>
                  </a:lnTo>
                  <a:cubicBezTo>
                    <a:pt x="3763" y="45"/>
                    <a:pt x="3640" y="0"/>
                    <a:pt x="3517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480;p73">
              <a:extLst>
                <a:ext uri="{FF2B5EF4-FFF2-40B4-BE49-F238E27FC236}">
                  <a16:creationId xmlns:a16="http://schemas.microsoft.com/office/drawing/2014/main" id="{AC176B00-FE2A-F681-C969-F5FBEAA4A7B0}"/>
                </a:ext>
              </a:extLst>
            </p:cNvPr>
            <p:cNvSpPr/>
            <p:nvPr/>
          </p:nvSpPr>
          <p:spPr>
            <a:xfrm>
              <a:off x="3544540" y="3586369"/>
              <a:ext cx="101810" cy="113863"/>
            </a:xfrm>
            <a:custGeom>
              <a:avLst/>
              <a:gdLst/>
              <a:ahLst/>
              <a:cxnLst/>
              <a:rect l="l" t="t" r="r" b="b"/>
              <a:pathLst>
                <a:path w="3877" h="4336" extrusionOk="0">
                  <a:moveTo>
                    <a:pt x="3513" y="0"/>
                  </a:moveTo>
                  <a:cubicBezTo>
                    <a:pt x="3388" y="0"/>
                    <a:pt x="3264" y="48"/>
                    <a:pt x="3168" y="144"/>
                  </a:cubicBezTo>
                  <a:lnTo>
                    <a:pt x="192" y="3120"/>
                  </a:lnTo>
                  <a:cubicBezTo>
                    <a:pt x="0" y="3312"/>
                    <a:pt x="0" y="3618"/>
                    <a:pt x="192" y="3809"/>
                  </a:cubicBezTo>
                  <a:lnTo>
                    <a:pt x="575" y="4192"/>
                  </a:lnTo>
                  <a:cubicBezTo>
                    <a:pt x="670" y="4288"/>
                    <a:pt x="795" y="4336"/>
                    <a:pt x="919" y="4336"/>
                  </a:cubicBezTo>
                  <a:cubicBezTo>
                    <a:pt x="1043" y="4336"/>
                    <a:pt x="1168" y="4288"/>
                    <a:pt x="1264" y="4192"/>
                  </a:cubicBezTo>
                  <a:lnTo>
                    <a:pt x="1283" y="4163"/>
                  </a:lnTo>
                  <a:lnTo>
                    <a:pt x="919" y="3809"/>
                  </a:lnTo>
                  <a:cubicBezTo>
                    <a:pt x="728" y="3618"/>
                    <a:pt x="728" y="3312"/>
                    <a:pt x="919" y="3120"/>
                  </a:cubicBezTo>
                  <a:lnTo>
                    <a:pt x="3876" y="163"/>
                  </a:lnTo>
                  <a:lnTo>
                    <a:pt x="3857" y="144"/>
                  </a:lnTo>
                  <a:cubicBezTo>
                    <a:pt x="3761" y="48"/>
                    <a:pt x="3637" y="0"/>
                    <a:pt x="3513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481;p73">
              <a:extLst>
                <a:ext uri="{FF2B5EF4-FFF2-40B4-BE49-F238E27FC236}">
                  <a16:creationId xmlns:a16="http://schemas.microsoft.com/office/drawing/2014/main" id="{82561CB4-0BE1-0D81-3013-9AE1EFD13B84}"/>
                </a:ext>
              </a:extLst>
            </p:cNvPr>
            <p:cNvSpPr/>
            <p:nvPr/>
          </p:nvSpPr>
          <p:spPr>
            <a:xfrm>
              <a:off x="3618409" y="3586106"/>
              <a:ext cx="42515" cy="41491"/>
            </a:xfrm>
            <a:custGeom>
              <a:avLst/>
              <a:gdLst/>
              <a:ahLst/>
              <a:cxnLst/>
              <a:rect l="l" t="t" r="r" b="b"/>
              <a:pathLst>
                <a:path w="1619" h="1580" extrusionOk="0">
                  <a:moveTo>
                    <a:pt x="700" y="1"/>
                  </a:moveTo>
                  <a:cubicBezTo>
                    <a:pt x="575" y="1"/>
                    <a:pt x="451" y="49"/>
                    <a:pt x="355" y="144"/>
                  </a:cubicBezTo>
                  <a:lnTo>
                    <a:pt x="1" y="508"/>
                  </a:lnTo>
                  <a:lnTo>
                    <a:pt x="1073" y="1580"/>
                  </a:lnTo>
                  <a:lnTo>
                    <a:pt x="1437" y="1226"/>
                  </a:lnTo>
                  <a:cubicBezTo>
                    <a:pt x="1618" y="1034"/>
                    <a:pt x="1618" y="728"/>
                    <a:pt x="1437" y="537"/>
                  </a:cubicBezTo>
                  <a:lnTo>
                    <a:pt x="1044" y="144"/>
                  </a:lnTo>
                  <a:cubicBezTo>
                    <a:pt x="948" y="49"/>
                    <a:pt x="824" y="1"/>
                    <a:pt x="700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482;p73">
              <a:extLst>
                <a:ext uri="{FF2B5EF4-FFF2-40B4-BE49-F238E27FC236}">
                  <a16:creationId xmlns:a16="http://schemas.microsoft.com/office/drawing/2014/main" id="{F8594275-88EB-F288-B47B-94E9D62F7636}"/>
                </a:ext>
              </a:extLst>
            </p:cNvPr>
            <p:cNvSpPr/>
            <p:nvPr/>
          </p:nvSpPr>
          <p:spPr>
            <a:xfrm>
              <a:off x="3618409" y="3586106"/>
              <a:ext cx="27941" cy="22899"/>
            </a:xfrm>
            <a:custGeom>
              <a:avLst/>
              <a:gdLst/>
              <a:ahLst/>
              <a:cxnLst/>
              <a:rect l="l" t="t" r="r" b="b"/>
              <a:pathLst>
                <a:path w="1064" h="872" extrusionOk="0">
                  <a:moveTo>
                    <a:pt x="652" y="1"/>
                  </a:moveTo>
                  <a:lnTo>
                    <a:pt x="604" y="10"/>
                  </a:lnTo>
                  <a:cubicBezTo>
                    <a:pt x="508" y="29"/>
                    <a:pt x="422" y="77"/>
                    <a:pt x="355" y="144"/>
                  </a:cubicBezTo>
                  <a:lnTo>
                    <a:pt x="87" y="412"/>
                  </a:lnTo>
                  <a:lnTo>
                    <a:pt x="1" y="498"/>
                  </a:lnTo>
                  <a:lnTo>
                    <a:pt x="374" y="872"/>
                  </a:lnTo>
                  <a:lnTo>
                    <a:pt x="1063" y="173"/>
                  </a:lnTo>
                  <a:lnTo>
                    <a:pt x="1044" y="144"/>
                  </a:lnTo>
                  <a:lnTo>
                    <a:pt x="1015" y="116"/>
                  </a:lnTo>
                  <a:lnTo>
                    <a:pt x="996" y="106"/>
                  </a:lnTo>
                  <a:cubicBezTo>
                    <a:pt x="910" y="39"/>
                    <a:pt x="805" y="10"/>
                    <a:pt x="700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EA302C42-712E-9F6C-B020-73D2348015FB}"/>
              </a:ext>
            </a:extLst>
          </p:cNvPr>
          <p:cNvSpPr txBox="1"/>
          <p:nvPr/>
        </p:nvSpPr>
        <p:spPr>
          <a:xfrm>
            <a:off x="1444633" y="3928365"/>
            <a:ext cx="99091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u="sng" cap="all" spc="150" dirty="0"/>
              <a:t>Цель исследования</a:t>
            </a:r>
            <a:r>
              <a:rPr lang="ru-RU" sz="1400" cap="all" spc="150" dirty="0"/>
              <a:t>: выявление различных аномалий в разные периоды деятельности сети </a:t>
            </a:r>
          </a:p>
        </p:txBody>
      </p:sp>
    </p:spTree>
    <p:extLst>
      <p:ext uri="{BB962C8B-B14F-4D97-AF65-F5344CB8AC3E}">
        <p14:creationId xmlns:p14="http://schemas.microsoft.com/office/powerpoint/2010/main" val="187538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F712A-90E3-D2A9-B229-A3935196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067"/>
            <a:ext cx="10515600" cy="392112"/>
          </a:xfrm>
        </p:spPr>
        <p:txBody>
          <a:bodyPr>
            <a:no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Анализ роста транзакций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381BAF77-9591-6FEA-39C4-0E8044F35F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3417383"/>
              </p:ext>
            </p:extLst>
          </p:nvPr>
        </p:nvGraphicFramePr>
        <p:xfrm>
          <a:off x="838200" y="1934182"/>
          <a:ext cx="7543800" cy="4425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316468-328B-3C85-BD3F-E9D3C5D14A52}"/>
              </a:ext>
            </a:extLst>
          </p:cNvPr>
          <p:cNvSpPr txBox="1"/>
          <p:nvPr/>
        </p:nvSpPr>
        <p:spPr>
          <a:xfrm>
            <a:off x="8381999" y="3562077"/>
            <a:ext cx="35147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Резкое снижение количества транзакций 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в ТТ по адресу ул. Симферопольский б-р, 22 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после 02.09.2022 г. связано с открытием новой 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ТТ по адресу ул. Чертановская, 20К2 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1CBA736-B96B-C562-5EAC-44D98F69132D}"/>
              </a:ext>
            </a:extLst>
          </p:cNvPr>
          <p:cNvCxnSpPr>
            <a:cxnSpLocks/>
          </p:cNvCxnSpPr>
          <p:nvPr/>
        </p:nvCxnSpPr>
        <p:spPr>
          <a:xfrm>
            <a:off x="8381999" y="2800652"/>
            <a:ext cx="0" cy="2692399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069CCF-C8A8-BD82-6444-633E53082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0000">
            <a:off x="9724308" y="5072933"/>
            <a:ext cx="1087554" cy="108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41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F62DBDF-28FF-F531-A984-EC7FC46A4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692"/>
            <a:ext cx="10515600" cy="392112"/>
          </a:xfrm>
        </p:spPr>
        <p:txBody>
          <a:bodyPr>
            <a:no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Анализ нагрузки на серверы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A5CAD368-402D-E6AF-2D33-FE09381B629C}"/>
              </a:ext>
            </a:extLst>
          </p:cNvPr>
          <p:cNvCxnSpPr>
            <a:cxnSpLocks/>
          </p:cNvCxnSpPr>
          <p:nvPr/>
        </p:nvCxnSpPr>
        <p:spPr>
          <a:xfrm>
            <a:off x="6096000" y="2796837"/>
            <a:ext cx="0" cy="190228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D94DE-8970-002A-ACD1-241B2520450A}"/>
              </a:ext>
            </a:extLst>
          </p:cNvPr>
          <p:cNvSpPr txBox="1"/>
          <p:nvPr/>
        </p:nvSpPr>
        <p:spPr>
          <a:xfrm>
            <a:off x="1369714" y="5501698"/>
            <a:ext cx="3514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Открытие новой торговой точки по адресу </a:t>
            </a:r>
            <a:r>
              <a:rPr lang="ru-RU" sz="1400" dirty="0"/>
              <a:t>ул. Чертановская, 20К2  привело к перегрузке сервера 3 и сильному снижению нагрузки на сервер 1 и 2. </a:t>
            </a:r>
            <a:endParaRPr lang="ru-RU" sz="1400" dirty="0">
              <a:latin typeface="+mj-lt"/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34D84DF7-9BBA-41A2-ED3E-697C6AEAC1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3816358"/>
              </p:ext>
            </p:extLst>
          </p:nvPr>
        </p:nvGraphicFramePr>
        <p:xfrm>
          <a:off x="529631" y="1950363"/>
          <a:ext cx="5194893" cy="3116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7DD25AB0-33C8-6F72-9F6A-3A50A0640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1079364"/>
              </p:ext>
            </p:extLst>
          </p:nvPr>
        </p:nvGraphicFramePr>
        <p:xfrm>
          <a:off x="6329740" y="1764626"/>
          <a:ext cx="5389779" cy="3302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3990B1-5294-2A26-9619-4AE034AB9590}"/>
              </a:ext>
            </a:extLst>
          </p:cNvPr>
          <p:cNvSpPr txBox="1"/>
          <p:nvPr/>
        </p:nvSpPr>
        <p:spPr>
          <a:xfrm>
            <a:off x="7267266" y="5501698"/>
            <a:ext cx="3514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В связи с этим были проведены мероприятия по </a:t>
            </a:r>
            <a:r>
              <a:rPr lang="ru-RU" sz="1400" dirty="0" err="1">
                <a:latin typeface="+mj-lt"/>
              </a:rPr>
              <a:t>перепривязке</a:t>
            </a:r>
            <a:r>
              <a:rPr lang="ru-RU" sz="1400" dirty="0">
                <a:latin typeface="+mj-lt"/>
              </a:rPr>
              <a:t> торговых точек к серверу 3, которые позволили снизить нагрузку на сервер 1.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21702C-FAE3-16BF-C27C-FE7991E4B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522" b="98370" l="10000" r="90000">
                        <a14:foregroundMark x1="45109" y1="25870" x2="45109" y2="258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357" y="5278478"/>
            <a:ext cx="1163285" cy="116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14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7A1206F-C828-FA21-05CA-16AFBC4D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692"/>
            <a:ext cx="10515600" cy="392112"/>
          </a:xfrm>
        </p:spPr>
        <p:txBody>
          <a:bodyPr>
            <a:no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Анализ работы касс самообслуживания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79149C7-060F-D3F4-41ED-2526C6A3B3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1058418"/>
              </p:ext>
            </p:extLst>
          </p:nvPr>
        </p:nvGraphicFramePr>
        <p:xfrm>
          <a:off x="542926" y="1740094"/>
          <a:ext cx="5886449" cy="3476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303A67EE-BEEB-38A4-F2D6-948417A3D4EE}"/>
              </a:ext>
            </a:extLst>
          </p:cNvPr>
          <p:cNvCxnSpPr>
            <a:cxnSpLocks/>
          </p:cNvCxnSpPr>
          <p:nvPr/>
        </p:nvCxnSpPr>
        <p:spPr>
          <a:xfrm flipV="1">
            <a:off x="8178592" y="3429000"/>
            <a:ext cx="276225" cy="4605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028AA097-0612-A670-A027-195210E5BF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4775560"/>
              </p:ext>
            </p:extLst>
          </p:nvPr>
        </p:nvGraphicFramePr>
        <p:xfrm>
          <a:off x="6664119" y="1740094"/>
          <a:ext cx="4846843" cy="2908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5C44075-C6A9-4C4B-6697-1556CDCEB3DC}"/>
              </a:ext>
            </a:extLst>
          </p:cNvPr>
          <p:cNvSpPr txBox="1"/>
          <p:nvPr/>
        </p:nvSpPr>
        <p:spPr>
          <a:xfrm>
            <a:off x="7839075" y="5305181"/>
            <a:ext cx="3514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Возрастает доля использования касс самообслуживания после 02.09.2022 г.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9F37A-A8C0-4F27-50AA-85647B9D1107}"/>
              </a:ext>
            </a:extLst>
          </p:cNvPr>
          <p:cNvSpPr txBox="1"/>
          <p:nvPr/>
        </p:nvSpPr>
        <p:spPr>
          <a:xfrm>
            <a:off x="680346" y="5359485"/>
            <a:ext cx="39011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В ТТ по адресу Ракетный б-р, 14К1 использование касс самообслуживания достигло 100%, при этом в ТТ по адресам </a:t>
            </a:r>
            <a:r>
              <a:rPr lang="ru-RU" sz="1400" dirty="0" err="1">
                <a:latin typeface="+mj-lt"/>
              </a:rPr>
              <a:t>ул</a:t>
            </a:r>
            <a:r>
              <a:rPr lang="ru-RU" sz="1400" dirty="0">
                <a:latin typeface="+mj-lt"/>
              </a:rPr>
              <a:t> Чертановская, 20К2 и ул. Симферопольский б-р, 22 преобладает использование обычных касс. 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9973410-AFC0-03CA-C09A-C4ECBD3513B3}"/>
              </a:ext>
            </a:extLst>
          </p:cNvPr>
          <p:cNvSpPr/>
          <p:nvPr/>
        </p:nvSpPr>
        <p:spPr>
          <a:xfrm>
            <a:off x="5275540" y="5416490"/>
            <a:ext cx="180975" cy="18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8B2D33C-F351-338A-7BAD-41C3799261C1}"/>
              </a:ext>
            </a:extLst>
          </p:cNvPr>
          <p:cNvSpPr/>
          <p:nvPr/>
        </p:nvSpPr>
        <p:spPr>
          <a:xfrm>
            <a:off x="5275540" y="5835590"/>
            <a:ext cx="180975" cy="1809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DD16D5-15C1-79E2-195C-0994E03C1B99}"/>
              </a:ext>
            </a:extLst>
          </p:cNvPr>
          <p:cNvSpPr txBox="1"/>
          <p:nvPr/>
        </p:nvSpPr>
        <p:spPr>
          <a:xfrm>
            <a:off x="5456515" y="5435049"/>
            <a:ext cx="2382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900" b="0" i="0" u="none" strike="noStrike" cap="all" spc="150" baseline="0"/>
            </a:lvl1pPr>
          </a:lstStyle>
          <a:p>
            <a:r>
              <a:rPr lang="ru-RU" dirty="0"/>
              <a:t>Кассы самообслуживания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F14858-00FA-6C73-C333-6436C145BC93}"/>
              </a:ext>
            </a:extLst>
          </p:cNvPr>
          <p:cNvSpPr txBox="1"/>
          <p:nvPr/>
        </p:nvSpPr>
        <p:spPr>
          <a:xfrm>
            <a:off x="5456515" y="5835590"/>
            <a:ext cx="1429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lang="en-US" sz="105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900" cap="all" spc="150" dirty="0"/>
              <a:t>Обычные Кассы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638D02-75C8-F0E7-E29B-3ADF4D921A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150" y="80423"/>
            <a:ext cx="13906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4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CC11B96-D26B-0A8E-C3B7-21E91C356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692"/>
            <a:ext cx="10515600" cy="392112"/>
          </a:xfrm>
        </p:spPr>
        <p:txBody>
          <a:bodyPr>
            <a:no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Анализ длительности транзакций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C30E06B-EBCE-2777-0321-1C31BB5FC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0401"/>
              </p:ext>
            </p:extLst>
          </p:nvPr>
        </p:nvGraphicFramePr>
        <p:xfrm>
          <a:off x="266700" y="1954530"/>
          <a:ext cx="4914900" cy="2948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AAC9CF-FA23-4A6A-B657-0DAD639324EC}"/>
              </a:ext>
            </a:extLst>
          </p:cNvPr>
          <p:cNvSpPr/>
          <p:nvPr/>
        </p:nvSpPr>
        <p:spPr>
          <a:xfrm>
            <a:off x="5307789" y="5350112"/>
            <a:ext cx="180975" cy="18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41CF0A-2A7F-62ED-51C2-F20F06AE8D2C}"/>
              </a:ext>
            </a:extLst>
          </p:cNvPr>
          <p:cNvSpPr/>
          <p:nvPr/>
        </p:nvSpPr>
        <p:spPr>
          <a:xfrm>
            <a:off x="5307789" y="5769212"/>
            <a:ext cx="180975" cy="1809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1D5AA-B5BB-A7C7-8F92-DE1A51EC7370}"/>
              </a:ext>
            </a:extLst>
          </p:cNvPr>
          <p:cNvSpPr txBox="1"/>
          <p:nvPr/>
        </p:nvSpPr>
        <p:spPr>
          <a:xfrm>
            <a:off x="5488764" y="5368671"/>
            <a:ext cx="2382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900" b="0" i="0" u="none" strike="noStrike" cap="all" spc="150" baseline="0"/>
            </a:lvl1pPr>
          </a:lstStyle>
          <a:p>
            <a:r>
              <a:rPr lang="ru-RU" dirty="0"/>
              <a:t>Кассы самообслуживания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DAEED-C2A4-B0CF-4A4C-0C60A6B5BA39}"/>
              </a:ext>
            </a:extLst>
          </p:cNvPr>
          <p:cNvSpPr txBox="1"/>
          <p:nvPr/>
        </p:nvSpPr>
        <p:spPr>
          <a:xfrm>
            <a:off x="5488764" y="5769212"/>
            <a:ext cx="1429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lang="en-US" sz="1050" b="0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900" cap="all" spc="150" dirty="0"/>
              <a:t>Обычные Кассы </a:t>
            </a: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2250F6EB-0C55-2D27-5EBF-26DACFF89C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0612950"/>
              </p:ext>
            </p:extLst>
          </p:nvPr>
        </p:nvGraphicFramePr>
        <p:xfrm>
          <a:off x="6203475" y="1954530"/>
          <a:ext cx="5426550" cy="2761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581BAFD-EB8F-53C8-4D46-DB339BCA67AF}"/>
              </a:ext>
            </a:extLst>
          </p:cNvPr>
          <p:cNvSpPr txBox="1"/>
          <p:nvPr/>
        </p:nvSpPr>
        <p:spPr>
          <a:xfrm>
            <a:off x="7777124" y="5350112"/>
            <a:ext cx="3514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Самая длительная транзакция была 01.09.2022г.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FF03D5-D3A5-05CA-B031-7F50FDEB3669}"/>
              </a:ext>
            </a:extLst>
          </p:cNvPr>
          <p:cNvSpPr txBox="1"/>
          <p:nvPr/>
        </p:nvSpPr>
        <p:spPr>
          <a:xfrm>
            <a:off x="656590" y="5350112"/>
            <a:ext cx="3846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На кассах самообслуживания среднее время транзакции дольше, чем на обычных кассах</a:t>
            </a:r>
          </a:p>
        </p:txBody>
      </p:sp>
    </p:spTree>
    <p:extLst>
      <p:ext uri="{BB962C8B-B14F-4D97-AF65-F5344CB8AC3E}">
        <p14:creationId xmlns:p14="http://schemas.microsoft.com/office/powerpoint/2010/main" val="1710269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882C886-C5D4-5623-2B73-25F18B61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44"/>
            <a:ext cx="10515600" cy="392112"/>
          </a:xfrm>
        </p:spPr>
        <p:txBody>
          <a:bodyPr>
            <a:no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Анализ влияния технических сбоев на транзакции</a:t>
            </a:r>
            <a:br>
              <a:rPr lang="ru-RU" dirty="0"/>
            </a:b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E1DBE-1F40-8568-8F8B-8F37C1EA3681}"/>
              </a:ext>
            </a:extLst>
          </p:cNvPr>
          <p:cNvSpPr txBox="1"/>
          <p:nvPr/>
        </p:nvSpPr>
        <p:spPr>
          <a:xfrm>
            <a:off x="1266684" y="1803954"/>
            <a:ext cx="2128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cap="all" spc="150" dirty="0"/>
              <a:t>Технические сбои: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0714A1-42B8-2E01-6A41-B67CFF4893DC}"/>
              </a:ext>
            </a:extLst>
          </p:cNvPr>
          <p:cNvSpPr/>
          <p:nvPr/>
        </p:nvSpPr>
        <p:spPr>
          <a:xfrm>
            <a:off x="2729751" y="2669666"/>
            <a:ext cx="2819402" cy="717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05.09 с 00:00 по 09:00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3F271C-9943-0FF1-98A2-DB0290A92E32}"/>
              </a:ext>
            </a:extLst>
          </p:cNvPr>
          <p:cNvSpPr/>
          <p:nvPr/>
        </p:nvSpPr>
        <p:spPr>
          <a:xfrm>
            <a:off x="865093" y="2669666"/>
            <a:ext cx="1066800" cy="7171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Сервер 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E0DAEB4-B8AF-610E-CF28-DD2745BABB87}"/>
              </a:ext>
            </a:extLst>
          </p:cNvPr>
          <p:cNvSpPr/>
          <p:nvPr/>
        </p:nvSpPr>
        <p:spPr>
          <a:xfrm>
            <a:off x="838200" y="3727502"/>
            <a:ext cx="1066800" cy="7171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Сервер 2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990CB18-ECBD-6BFC-8070-5FE1CA74A868}"/>
              </a:ext>
            </a:extLst>
          </p:cNvPr>
          <p:cNvSpPr/>
          <p:nvPr/>
        </p:nvSpPr>
        <p:spPr>
          <a:xfrm>
            <a:off x="2729751" y="3749913"/>
            <a:ext cx="2819402" cy="717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07.09 с 12.00 по 13.00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3B4C29A-DF94-3B42-0EDC-F526B8473606}"/>
              </a:ext>
            </a:extLst>
          </p:cNvPr>
          <p:cNvSpPr/>
          <p:nvPr/>
        </p:nvSpPr>
        <p:spPr>
          <a:xfrm>
            <a:off x="838200" y="4785338"/>
            <a:ext cx="1066800" cy="7171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Сервер 1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B575EBE-FD0E-4EF6-6984-9DE7EB7E9C04}"/>
              </a:ext>
            </a:extLst>
          </p:cNvPr>
          <p:cNvSpPr/>
          <p:nvPr/>
        </p:nvSpPr>
        <p:spPr>
          <a:xfrm>
            <a:off x="2729750" y="4785337"/>
            <a:ext cx="2819403" cy="717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cap="all" spc="150" dirty="0">
                <a:solidFill>
                  <a:schemeClr val="tx1"/>
                </a:solidFill>
              </a:rPr>
              <a:t>06.09 в течение всего дня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4E7C4314-8BB3-B99D-E690-1A8EABF15903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1931893" y="3028255"/>
            <a:ext cx="7978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DB13BD3-228F-DAB2-D3C5-91762FF45C18}"/>
              </a:ext>
            </a:extLst>
          </p:cNvPr>
          <p:cNvCxnSpPr/>
          <p:nvPr/>
        </p:nvCxnSpPr>
        <p:spPr>
          <a:xfrm>
            <a:off x="1931893" y="4086090"/>
            <a:ext cx="7978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E869A3A6-361C-92A1-436C-9DCE41110BF8}"/>
              </a:ext>
            </a:extLst>
          </p:cNvPr>
          <p:cNvCxnSpPr/>
          <p:nvPr/>
        </p:nvCxnSpPr>
        <p:spPr>
          <a:xfrm>
            <a:off x="1931893" y="5143925"/>
            <a:ext cx="79785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" name="Google Shape;7506;p71">
            <a:extLst>
              <a:ext uri="{FF2B5EF4-FFF2-40B4-BE49-F238E27FC236}">
                <a16:creationId xmlns:a16="http://schemas.microsoft.com/office/drawing/2014/main" id="{253513FF-1219-CA05-F607-2DE97C8A689D}"/>
              </a:ext>
            </a:extLst>
          </p:cNvPr>
          <p:cNvGrpSpPr/>
          <p:nvPr/>
        </p:nvGrpSpPr>
        <p:grpSpPr>
          <a:xfrm>
            <a:off x="865093" y="1803954"/>
            <a:ext cx="345141" cy="345141"/>
            <a:chOff x="4674908" y="3682271"/>
            <a:chExt cx="371966" cy="371966"/>
          </a:xfrm>
        </p:grpSpPr>
        <p:sp>
          <p:nvSpPr>
            <p:cNvPr id="28" name="Google Shape;7507;p71">
              <a:extLst>
                <a:ext uri="{FF2B5EF4-FFF2-40B4-BE49-F238E27FC236}">
                  <a16:creationId xmlns:a16="http://schemas.microsoft.com/office/drawing/2014/main" id="{E3432C38-59B4-DF42-ACD1-B5C112855DCE}"/>
                </a:ext>
              </a:extLst>
            </p:cNvPr>
            <p:cNvSpPr/>
            <p:nvPr/>
          </p:nvSpPr>
          <p:spPr>
            <a:xfrm>
              <a:off x="4674908" y="3682271"/>
              <a:ext cx="371966" cy="371966"/>
            </a:xfrm>
            <a:custGeom>
              <a:avLst/>
              <a:gdLst/>
              <a:ahLst/>
              <a:cxnLst/>
              <a:rect l="l" t="t" r="r" b="b"/>
              <a:pathLst>
                <a:path w="14158" h="14158" extrusionOk="0">
                  <a:moveTo>
                    <a:pt x="2394" y="1"/>
                  </a:moveTo>
                  <a:cubicBezTo>
                    <a:pt x="1069" y="1"/>
                    <a:pt x="1" y="1076"/>
                    <a:pt x="1" y="2401"/>
                  </a:cubicBezTo>
                  <a:lnTo>
                    <a:pt x="1" y="11765"/>
                  </a:lnTo>
                  <a:cubicBezTo>
                    <a:pt x="1" y="13083"/>
                    <a:pt x="1076" y="14158"/>
                    <a:pt x="2394" y="14158"/>
                  </a:cubicBezTo>
                  <a:lnTo>
                    <a:pt x="11757" y="14158"/>
                  </a:lnTo>
                  <a:cubicBezTo>
                    <a:pt x="13082" y="14158"/>
                    <a:pt x="14157" y="13083"/>
                    <a:pt x="14157" y="11758"/>
                  </a:cubicBezTo>
                  <a:lnTo>
                    <a:pt x="14157" y="2394"/>
                  </a:lnTo>
                  <a:cubicBezTo>
                    <a:pt x="14150" y="1076"/>
                    <a:pt x="13082" y="1"/>
                    <a:pt x="1175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508;p71">
              <a:extLst>
                <a:ext uri="{FF2B5EF4-FFF2-40B4-BE49-F238E27FC236}">
                  <a16:creationId xmlns:a16="http://schemas.microsoft.com/office/drawing/2014/main" id="{E16D59A5-88A3-35EC-A242-46D9355EE7E2}"/>
                </a:ext>
              </a:extLst>
            </p:cNvPr>
            <p:cNvSpPr/>
            <p:nvPr/>
          </p:nvSpPr>
          <p:spPr>
            <a:xfrm>
              <a:off x="4690934" y="3698140"/>
              <a:ext cx="339887" cy="340071"/>
            </a:xfrm>
            <a:custGeom>
              <a:avLst/>
              <a:gdLst/>
              <a:ahLst/>
              <a:cxnLst/>
              <a:rect l="l" t="t" r="r" b="b"/>
              <a:pathLst>
                <a:path w="12937" h="12944" extrusionOk="0">
                  <a:moveTo>
                    <a:pt x="1784" y="0"/>
                  </a:moveTo>
                  <a:cubicBezTo>
                    <a:pt x="799" y="0"/>
                    <a:pt x="1" y="805"/>
                    <a:pt x="1" y="1790"/>
                  </a:cubicBezTo>
                  <a:lnTo>
                    <a:pt x="1" y="11154"/>
                  </a:lnTo>
                  <a:cubicBezTo>
                    <a:pt x="1" y="12139"/>
                    <a:pt x="799" y="12943"/>
                    <a:pt x="1784" y="12943"/>
                  </a:cubicBezTo>
                  <a:lnTo>
                    <a:pt x="11147" y="12943"/>
                  </a:lnTo>
                  <a:cubicBezTo>
                    <a:pt x="12139" y="12943"/>
                    <a:pt x="12937" y="12146"/>
                    <a:pt x="12937" y="11154"/>
                  </a:cubicBezTo>
                  <a:lnTo>
                    <a:pt x="12937" y="1790"/>
                  </a:lnTo>
                  <a:cubicBezTo>
                    <a:pt x="12937" y="805"/>
                    <a:pt x="12139" y="0"/>
                    <a:pt x="11147" y="0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509;p71">
              <a:extLst>
                <a:ext uri="{FF2B5EF4-FFF2-40B4-BE49-F238E27FC236}">
                  <a16:creationId xmlns:a16="http://schemas.microsoft.com/office/drawing/2014/main" id="{5EA01F1F-E68E-6E67-BC01-05105001D6B0}"/>
                </a:ext>
              </a:extLst>
            </p:cNvPr>
            <p:cNvSpPr/>
            <p:nvPr/>
          </p:nvSpPr>
          <p:spPr>
            <a:xfrm>
              <a:off x="4802829" y="3742409"/>
              <a:ext cx="103908" cy="89169"/>
            </a:xfrm>
            <a:custGeom>
              <a:avLst/>
              <a:gdLst/>
              <a:ahLst/>
              <a:cxnLst/>
              <a:rect l="l" t="t" r="r" b="b"/>
              <a:pathLst>
                <a:path w="3955" h="3394" extrusionOk="0">
                  <a:moveTo>
                    <a:pt x="2262" y="1"/>
                  </a:moveTo>
                  <a:cubicBezTo>
                    <a:pt x="757" y="1"/>
                    <a:pt x="1" y="1825"/>
                    <a:pt x="1069" y="2893"/>
                  </a:cubicBezTo>
                  <a:cubicBezTo>
                    <a:pt x="1414" y="3239"/>
                    <a:pt x="1838" y="3393"/>
                    <a:pt x="2254" y="3393"/>
                  </a:cubicBezTo>
                  <a:cubicBezTo>
                    <a:pt x="3122" y="3393"/>
                    <a:pt x="3954" y="2716"/>
                    <a:pt x="3954" y="1693"/>
                  </a:cubicBezTo>
                  <a:cubicBezTo>
                    <a:pt x="3954" y="764"/>
                    <a:pt x="3198" y="1"/>
                    <a:pt x="2262" y="1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7510;p71">
              <a:extLst>
                <a:ext uri="{FF2B5EF4-FFF2-40B4-BE49-F238E27FC236}">
                  <a16:creationId xmlns:a16="http://schemas.microsoft.com/office/drawing/2014/main" id="{918403C7-4646-9DC1-D840-F801400A3C20}"/>
                </a:ext>
              </a:extLst>
            </p:cNvPr>
            <p:cNvSpPr/>
            <p:nvPr/>
          </p:nvSpPr>
          <p:spPr>
            <a:xfrm>
              <a:off x="4789167" y="3855591"/>
              <a:ext cx="143448" cy="138509"/>
            </a:xfrm>
            <a:custGeom>
              <a:avLst/>
              <a:gdLst/>
              <a:ahLst/>
              <a:cxnLst/>
              <a:rect l="l" t="t" r="r" b="b"/>
              <a:pathLst>
                <a:path w="5460" h="5272" extrusionOk="0">
                  <a:moveTo>
                    <a:pt x="403" y="0"/>
                  </a:moveTo>
                  <a:cubicBezTo>
                    <a:pt x="181" y="0"/>
                    <a:pt x="1" y="181"/>
                    <a:pt x="1" y="403"/>
                  </a:cubicBezTo>
                  <a:lnTo>
                    <a:pt x="1" y="957"/>
                  </a:lnTo>
                  <a:cubicBezTo>
                    <a:pt x="1" y="1179"/>
                    <a:pt x="181" y="1360"/>
                    <a:pt x="403" y="1360"/>
                  </a:cubicBezTo>
                  <a:lnTo>
                    <a:pt x="764" y="1360"/>
                  </a:lnTo>
                  <a:cubicBezTo>
                    <a:pt x="986" y="1360"/>
                    <a:pt x="1166" y="1533"/>
                    <a:pt x="1166" y="1755"/>
                  </a:cubicBezTo>
                  <a:lnTo>
                    <a:pt x="1166" y="3517"/>
                  </a:lnTo>
                  <a:cubicBezTo>
                    <a:pt x="1166" y="3732"/>
                    <a:pt x="986" y="3912"/>
                    <a:pt x="764" y="3912"/>
                  </a:cubicBezTo>
                  <a:lnTo>
                    <a:pt x="514" y="3912"/>
                  </a:lnTo>
                  <a:cubicBezTo>
                    <a:pt x="292" y="3912"/>
                    <a:pt x="112" y="4093"/>
                    <a:pt x="112" y="4315"/>
                  </a:cubicBezTo>
                  <a:lnTo>
                    <a:pt x="112" y="4869"/>
                  </a:lnTo>
                  <a:cubicBezTo>
                    <a:pt x="112" y="5091"/>
                    <a:pt x="292" y="5272"/>
                    <a:pt x="514" y="5272"/>
                  </a:cubicBezTo>
                  <a:lnTo>
                    <a:pt x="5057" y="5272"/>
                  </a:lnTo>
                  <a:cubicBezTo>
                    <a:pt x="5279" y="5272"/>
                    <a:pt x="5459" y="5091"/>
                    <a:pt x="5459" y="4869"/>
                  </a:cubicBezTo>
                  <a:lnTo>
                    <a:pt x="5459" y="4321"/>
                  </a:lnTo>
                  <a:cubicBezTo>
                    <a:pt x="5459" y="4100"/>
                    <a:pt x="5279" y="3919"/>
                    <a:pt x="5057" y="3919"/>
                  </a:cubicBezTo>
                  <a:lnTo>
                    <a:pt x="4807" y="3919"/>
                  </a:lnTo>
                  <a:cubicBezTo>
                    <a:pt x="4585" y="3919"/>
                    <a:pt x="4405" y="3739"/>
                    <a:pt x="4405" y="3517"/>
                  </a:cubicBezTo>
                  <a:lnTo>
                    <a:pt x="4405" y="403"/>
                  </a:lnTo>
                  <a:cubicBezTo>
                    <a:pt x="4405" y="181"/>
                    <a:pt x="4225" y="0"/>
                    <a:pt x="4003" y="0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1E5D12-7498-4C2F-4737-C7A6A4C6B8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388" y="4231785"/>
            <a:ext cx="1209540" cy="12095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BA948B-D34A-5EAE-5CAE-AF730D88A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06" y="2669666"/>
            <a:ext cx="1562119" cy="156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7B8259B0-1CED-6A31-90AF-7158901ED1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84057"/>
              </p:ext>
            </p:extLst>
          </p:nvPr>
        </p:nvGraphicFramePr>
        <p:xfrm>
          <a:off x="696165" y="1411534"/>
          <a:ext cx="4185316" cy="2445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B082B6-FAF2-8F10-B35A-99CB2E5CC1FB}"/>
              </a:ext>
            </a:extLst>
          </p:cNvPr>
          <p:cNvSpPr txBox="1"/>
          <p:nvPr/>
        </p:nvSpPr>
        <p:spPr>
          <a:xfrm>
            <a:off x="633411" y="276290"/>
            <a:ext cx="103035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j-ea"/>
                <a:cs typeface="+mj-cs"/>
              </a:rPr>
              <a:t>Анализ влияния технических сбоев на транзакции</a:t>
            </a:r>
            <a:endParaRPr lang="ru-RU" dirty="0"/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F9A8C6AA-04B1-4CAF-8DF4-8834168745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596041"/>
              </p:ext>
            </p:extLst>
          </p:nvPr>
        </p:nvGraphicFramePr>
        <p:xfrm>
          <a:off x="6751624" y="1225283"/>
          <a:ext cx="4185316" cy="2485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B2993BC1-FE35-C7DE-7F58-3BFD3EB467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9924710"/>
              </p:ext>
            </p:extLst>
          </p:nvPr>
        </p:nvGraphicFramePr>
        <p:xfrm>
          <a:off x="3398206" y="3914701"/>
          <a:ext cx="4312494" cy="2691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F9B05CA-F67C-0A73-A5DF-956EFD290044}"/>
              </a:ext>
            </a:extLst>
          </p:cNvPr>
          <p:cNvSpPr/>
          <p:nvPr/>
        </p:nvSpPr>
        <p:spPr>
          <a:xfrm>
            <a:off x="633411" y="5149222"/>
            <a:ext cx="519953" cy="107577"/>
          </a:xfrm>
          <a:prstGeom prst="rect">
            <a:avLst/>
          </a:prstGeom>
          <a:solidFill>
            <a:srgbClr val="4A77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F68F65D-0C47-2847-9E7D-0FCCDEEFECC4}"/>
              </a:ext>
            </a:extLst>
          </p:cNvPr>
          <p:cNvCxnSpPr>
            <a:cxnSpLocks/>
          </p:cNvCxnSpPr>
          <p:nvPr/>
        </p:nvCxnSpPr>
        <p:spPr>
          <a:xfrm>
            <a:off x="633411" y="5549154"/>
            <a:ext cx="519953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57C8AC-17C7-C594-6B30-01E2D4FACBE2}"/>
              </a:ext>
            </a:extLst>
          </p:cNvPr>
          <p:cNvSpPr txBox="1"/>
          <p:nvPr/>
        </p:nvSpPr>
        <p:spPr>
          <a:xfrm>
            <a:off x="1237712" y="5049123"/>
            <a:ext cx="2160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Длительность транзакции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CB277B-EECF-59DA-BABD-FB5099493FF1}"/>
              </a:ext>
            </a:extLst>
          </p:cNvPr>
          <p:cNvSpPr txBox="1"/>
          <p:nvPr/>
        </p:nvSpPr>
        <p:spPr>
          <a:xfrm>
            <a:off x="1237712" y="5395265"/>
            <a:ext cx="2160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Количество транзакций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64960A-7268-E065-1BFF-DA6122D26829}"/>
              </a:ext>
            </a:extLst>
          </p:cNvPr>
          <p:cNvSpPr txBox="1"/>
          <p:nvPr/>
        </p:nvSpPr>
        <p:spPr>
          <a:xfrm>
            <a:off x="7895003" y="4157885"/>
            <a:ext cx="3952382" cy="2044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200" dirty="0">
                <a:latin typeface="+mj-lt"/>
              </a:rPr>
              <a:t>В связи с техническими сбоями на серверах длительность транзакции увеличилась на:</a:t>
            </a:r>
            <a:br>
              <a:rPr lang="ru-RU" sz="1200" dirty="0">
                <a:latin typeface="+mj-lt"/>
              </a:rPr>
            </a:br>
            <a:br>
              <a:rPr lang="ru-RU" sz="1200" dirty="0">
                <a:latin typeface="+mj-lt"/>
              </a:rPr>
            </a:br>
            <a:r>
              <a:rPr lang="ru-RU" sz="1200" dirty="0">
                <a:latin typeface="+mj-lt"/>
              </a:rPr>
              <a:t>-- 42,47% 05.09 в период с  00:00 по 09:00 на сервере 1;</a:t>
            </a:r>
            <a:br>
              <a:rPr lang="ru-RU" sz="1200" dirty="0">
                <a:latin typeface="+mj-lt"/>
              </a:rPr>
            </a:br>
            <a:r>
              <a:rPr lang="ru-RU" sz="1200" dirty="0">
                <a:latin typeface="+mj-lt"/>
              </a:rPr>
              <a:t>-- 69,05%. 07.09 в период с 12:00 до 13:00 на сервере 2;</a:t>
            </a:r>
            <a:br>
              <a:rPr lang="ru-RU" sz="1200" dirty="0">
                <a:latin typeface="+mj-lt"/>
              </a:rPr>
            </a:br>
            <a:r>
              <a:rPr lang="ru-RU" sz="1200" dirty="0">
                <a:latin typeface="+mj-lt"/>
              </a:rPr>
              <a:t>-- 23,59% в течение дня 06.09 на сервере 1.</a:t>
            </a:r>
            <a:br>
              <a:rPr lang="ru-RU" sz="1200" dirty="0">
                <a:latin typeface="+mj-lt"/>
              </a:rPr>
            </a:br>
            <a:r>
              <a:rPr lang="ru-RU" sz="14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872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54C5C-0AE1-A1BE-469B-1E8CF1A72475}"/>
              </a:ext>
            </a:extLst>
          </p:cNvPr>
          <p:cNvSpPr txBox="1">
            <a:spLocks/>
          </p:cNvSpPr>
          <p:nvPr/>
        </p:nvSpPr>
        <p:spPr>
          <a:xfrm>
            <a:off x="838200" y="45418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эффективности маркетинговой акции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C1BE2BD-ACAC-CFB0-2D64-594AB8AAFB0B}"/>
              </a:ext>
            </a:extLst>
          </p:cNvPr>
          <p:cNvSpPr/>
          <p:nvPr/>
        </p:nvSpPr>
        <p:spPr>
          <a:xfrm>
            <a:off x="4190995" y="2120086"/>
            <a:ext cx="6190134" cy="7961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cap="all" spc="150" dirty="0">
                <a:solidFill>
                  <a:schemeClr val="tx1"/>
                </a:solidFill>
                <a:latin typeface="+mj-lt"/>
              </a:rPr>
              <a:t>любой предъявитель карты с программой лояльности за покупку свыше 15 000 ₽ получает дополнительный подарок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11F575-B0D4-4862-DC5E-B958A023A091}"/>
              </a:ext>
            </a:extLst>
          </p:cNvPr>
          <p:cNvSpPr/>
          <p:nvPr/>
        </p:nvSpPr>
        <p:spPr>
          <a:xfrm>
            <a:off x="838200" y="2120086"/>
            <a:ext cx="1591236" cy="8217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Условия акции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48EDB4-AD50-D798-9B6E-26D4F9AAED4E}"/>
              </a:ext>
            </a:extLst>
          </p:cNvPr>
          <p:cNvSpPr/>
          <p:nvPr/>
        </p:nvSpPr>
        <p:spPr>
          <a:xfrm>
            <a:off x="838200" y="3340270"/>
            <a:ext cx="1618129" cy="7171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Сроки проведения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B49CFDB-19B1-1C44-D86F-6CBE6291FD3C}"/>
              </a:ext>
            </a:extLst>
          </p:cNvPr>
          <p:cNvSpPr/>
          <p:nvPr/>
        </p:nvSpPr>
        <p:spPr>
          <a:xfrm>
            <a:off x="4190995" y="3340271"/>
            <a:ext cx="6190133" cy="717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cap="all" spc="150" dirty="0">
                <a:solidFill>
                  <a:schemeClr val="tx1"/>
                </a:solidFill>
                <a:latin typeface="+mj-lt"/>
              </a:rPr>
              <a:t>В течение всего дня 07.09.2022 г.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F417E6-FDDB-B795-A870-875BEB79B9CB}"/>
              </a:ext>
            </a:extLst>
          </p:cNvPr>
          <p:cNvSpPr/>
          <p:nvPr/>
        </p:nvSpPr>
        <p:spPr>
          <a:xfrm>
            <a:off x="838201" y="4495463"/>
            <a:ext cx="1618128" cy="103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b="1" cap="all" spc="150" dirty="0">
                <a:solidFill>
                  <a:schemeClr val="tx1"/>
                </a:solidFill>
              </a:rPr>
              <a:t>Подарки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98117B-FC9E-07B9-0E7E-546481605930}"/>
              </a:ext>
            </a:extLst>
          </p:cNvPr>
          <p:cNvSpPr/>
          <p:nvPr/>
        </p:nvSpPr>
        <p:spPr>
          <a:xfrm>
            <a:off x="4190996" y="4495463"/>
            <a:ext cx="6190132" cy="10345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cap="all" spc="150" dirty="0">
                <a:solidFill>
                  <a:schemeClr val="tx1"/>
                </a:solidFill>
                <a:latin typeface="+mj-lt"/>
              </a:rPr>
              <a:t>5 человек получают подарок ценой 50 000 ₽;</a:t>
            </a:r>
            <a:br>
              <a:rPr lang="ru-RU" sz="1400" cap="all" spc="150" dirty="0">
                <a:solidFill>
                  <a:schemeClr val="tx1"/>
                </a:solidFill>
                <a:latin typeface="+mj-lt"/>
              </a:rPr>
            </a:br>
            <a:r>
              <a:rPr lang="ru-RU" sz="1400" cap="all" spc="150" dirty="0">
                <a:solidFill>
                  <a:schemeClr val="tx1"/>
                </a:solidFill>
                <a:latin typeface="+mj-lt"/>
              </a:rPr>
              <a:t>10 человек получают подарок ценой 10 000 ₽;</a:t>
            </a:r>
            <a:br>
              <a:rPr lang="ru-RU" sz="1400" cap="all" spc="150" dirty="0">
                <a:solidFill>
                  <a:schemeClr val="tx1"/>
                </a:solidFill>
                <a:latin typeface="+mj-lt"/>
              </a:rPr>
            </a:br>
            <a:r>
              <a:rPr lang="ru-RU" sz="1400" cap="all" spc="150" dirty="0">
                <a:solidFill>
                  <a:schemeClr val="tx1"/>
                </a:solidFill>
                <a:latin typeface="+mj-lt"/>
              </a:rPr>
              <a:t>Все остальные получают подарок ценой 750 ₽.</a:t>
            </a:r>
          </a:p>
        </p:txBody>
      </p:sp>
      <p:sp>
        <p:nvSpPr>
          <p:cNvPr id="20" name="Стрелка: вправо 19">
            <a:extLst>
              <a:ext uri="{FF2B5EF4-FFF2-40B4-BE49-F238E27FC236}">
                <a16:creationId xmlns:a16="http://schemas.microsoft.com/office/drawing/2014/main" id="{1C5A1B85-75C8-40F5-72E5-2958BD01E2A4}"/>
              </a:ext>
            </a:extLst>
          </p:cNvPr>
          <p:cNvSpPr/>
          <p:nvPr/>
        </p:nvSpPr>
        <p:spPr>
          <a:xfrm>
            <a:off x="2848533" y="2392007"/>
            <a:ext cx="923365" cy="27790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199C0B0E-C959-8C79-05A9-D97817B1A01B}"/>
              </a:ext>
            </a:extLst>
          </p:cNvPr>
          <p:cNvSpPr/>
          <p:nvPr/>
        </p:nvSpPr>
        <p:spPr>
          <a:xfrm>
            <a:off x="2848532" y="3559906"/>
            <a:ext cx="923365" cy="27790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665B6A29-C09A-9ED1-3DE4-0511538EC166}"/>
              </a:ext>
            </a:extLst>
          </p:cNvPr>
          <p:cNvSpPr/>
          <p:nvPr/>
        </p:nvSpPr>
        <p:spPr>
          <a:xfrm>
            <a:off x="2848531" y="4873795"/>
            <a:ext cx="923365" cy="27790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94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9C289-652E-151B-4850-4A6A8B560CAE}"/>
              </a:ext>
            </a:extLst>
          </p:cNvPr>
          <p:cNvSpPr txBox="1">
            <a:spLocks/>
          </p:cNvSpPr>
          <p:nvPr/>
        </p:nvSpPr>
        <p:spPr>
          <a:xfrm>
            <a:off x="838200" y="45418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эффективности маркетинговой акции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2CB204F3-9809-E815-E508-3093DA9F02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7457757"/>
              </p:ext>
            </p:extLst>
          </p:nvPr>
        </p:nvGraphicFramePr>
        <p:xfrm>
          <a:off x="838200" y="1636759"/>
          <a:ext cx="4960425" cy="3405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07849D44-7BA8-B787-2BD7-B46D3FDB70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2201064"/>
              </p:ext>
            </p:extLst>
          </p:nvPr>
        </p:nvGraphicFramePr>
        <p:xfrm>
          <a:off x="5997668" y="1636759"/>
          <a:ext cx="5481638" cy="330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A3673C-84ED-9E9C-AA0D-3648C8E7E34D}"/>
              </a:ext>
            </a:extLst>
          </p:cNvPr>
          <p:cNvSpPr/>
          <p:nvPr/>
        </p:nvSpPr>
        <p:spPr>
          <a:xfrm>
            <a:off x="838200" y="5140827"/>
            <a:ext cx="519953" cy="107577"/>
          </a:xfrm>
          <a:prstGeom prst="rect">
            <a:avLst/>
          </a:prstGeom>
          <a:solidFill>
            <a:srgbClr val="4A77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B407FA9-CD2C-2F77-840E-EC4F043B8D02}"/>
              </a:ext>
            </a:extLst>
          </p:cNvPr>
          <p:cNvCxnSpPr>
            <a:cxnSpLocks/>
          </p:cNvCxnSpPr>
          <p:nvPr/>
        </p:nvCxnSpPr>
        <p:spPr>
          <a:xfrm>
            <a:off x="3175236" y="5204229"/>
            <a:ext cx="519953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AF0044-346A-3117-F8B2-F95C134C390B}"/>
              </a:ext>
            </a:extLst>
          </p:cNvPr>
          <p:cNvSpPr txBox="1"/>
          <p:nvPr/>
        </p:nvSpPr>
        <p:spPr>
          <a:xfrm>
            <a:off x="1442501" y="5040728"/>
            <a:ext cx="15861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Количество транзакции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7CD12-46F7-5E47-627C-FEDDE306A2C4}"/>
              </a:ext>
            </a:extLst>
          </p:cNvPr>
          <p:cNvSpPr txBox="1"/>
          <p:nvPr/>
        </p:nvSpPr>
        <p:spPr>
          <a:xfrm>
            <a:off x="3779537" y="5050340"/>
            <a:ext cx="2160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Средний чек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EB8D979-B3A3-2042-D3B2-0D8601A8E893}"/>
              </a:ext>
            </a:extLst>
          </p:cNvPr>
          <p:cNvSpPr/>
          <p:nvPr/>
        </p:nvSpPr>
        <p:spPr>
          <a:xfrm>
            <a:off x="6216834" y="5039566"/>
            <a:ext cx="180975" cy="180975"/>
          </a:xfrm>
          <a:prstGeom prst="rect">
            <a:avLst/>
          </a:prstGeom>
          <a:solidFill>
            <a:srgbClr val="A5A5A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5D76A39-7A94-6875-3258-D87FECD4EB4E}"/>
              </a:ext>
            </a:extLst>
          </p:cNvPr>
          <p:cNvSpPr/>
          <p:nvPr/>
        </p:nvSpPr>
        <p:spPr>
          <a:xfrm>
            <a:off x="8372895" y="5052012"/>
            <a:ext cx="180975" cy="1809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F36E70A-5DFD-4069-F722-C14A3377969B}"/>
              </a:ext>
            </a:extLst>
          </p:cNvPr>
          <p:cNvSpPr/>
          <p:nvPr/>
        </p:nvSpPr>
        <p:spPr>
          <a:xfrm>
            <a:off x="10085203" y="5050340"/>
            <a:ext cx="180975" cy="180975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7529C-B018-9995-A282-E0C3AAD5FBA2}"/>
              </a:ext>
            </a:extLst>
          </p:cNvPr>
          <p:cNvSpPr txBox="1"/>
          <p:nvPr/>
        </p:nvSpPr>
        <p:spPr>
          <a:xfrm>
            <a:off x="6456759" y="4989334"/>
            <a:ext cx="12624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Прирост выручки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61429A-F7E4-BD5A-25D6-8876DD5CE191}"/>
              </a:ext>
            </a:extLst>
          </p:cNvPr>
          <p:cNvSpPr txBox="1"/>
          <p:nvPr/>
        </p:nvSpPr>
        <p:spPr>
          <a:xfrm>
            <a:off x="8617253" y="5010022"/>
            <a:ext cx="750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Прибыль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2FC018-9017-CCF2-C3A5-BD40AE8E8151}"/>
              </a:ext>
            </a:extLst>
          </p:cNvPr>
          <p:cNvSpPr txBox="1"/>
          <p:nvPr/>
        </p:nvSpPr>
        <p:spPr>
          <a:xfrm>
            <a:off x="10328935" y="5035493"/>
            <a:ext cx="7170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Затраты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25354-FC69-ECB8-1CBB-82E866EDDBAE}"/>
              </a:ext>
            </a:extLst>
          </p:cNvPr>
          <p:cNvSpPr txBox="1"/>
          <p:nvPr/>
        </p:nvSpPr>
        <p:spPr>
          <a:xfrm>
            <a:off x="1561049" y="5665150"/>
            <a:ext cx="35147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Во время проведения акции количество транзакций осталось примерно на таком же уровне, однако средний чек вырос на 8,05%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15CB56-6D3D-7A85-C2E9-C73662974279}"/>
              </a:ext>
            </a:extLst>
          </p:cNvPr>
          <p:cNvSpPr txBox="1"/>
          <p:nvPr/>
        </p:nvSpPr>
        <p:spPr>
          <a:xfrm>
            <a:off x="6859890" y="5655641"/>
            <a:ext cx="35147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Проведение акции позволило увеличить прибыль на 2 650 997,14 руб.</a:t>
            </a:r>
            <a:br>
              <a:rPr lang="ru-RU" sz="1400" dirty="0">
                <a:latin typeface="+mj-lt"/>
              </a:rPr>
            </a:br>
            <a:endParaRPr lang="ru-RU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624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21A7A-3B46-C1AB-DFD6-8774577851E6}"/>
              </a:ext>
            </a:extLst>
          </p:cNvPr>
          <p:cNvSpPr txBox="1">
            <a:spLocks/>
          </p:cNvSpPr>
          <p:nvPr/>
        </p:nvSpPr>
        <p:spPr>
          <a:xfrm>
            <a:off x="838200" y="47211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аномалий 01.09.2022г. (транзакции)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CD06FE92-E6AC-4676-A360-061C5F808D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766399"/>
              </p:ext>
            </p:extLst>
          </p:nvPr>
        </p:nvGraphicFramePr>
        <p:xfrm>
          <a:off x="2192850" y="1452099"/>
          <a:ext cx="7806298" cy="3787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203C520F-2167-A2B1-D167-878906D38967}"/>
              </a:ext>
            </a:extLst>
          </p:cNvPr>
          <p:cNvCxnSpPr>
            <a:cxnSpLocks/>
          </p:cNvCxnSpPr>
          <p:nvPr/>
        </p:nvCxnSpPr>
        <p:spPr>
          <a:xfrm flipH="1">
            <a:off x="4195483" y="2232211"/>
            <a:ext cx="457199" cy="3854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A93D9F-BA18-6A67-8661-59011032E81F}"/>
              </a:ext>
            </a:extLst>
          </p:cNvPr>
          <p:cNvSpPr txBox="1"/>
          <p:nvPr/>
        </p:nvSpPr>
        <p:spPr>
          <a:xfrm>
            <a:off x="2678695" y="5405901"/>
            <a:ext cx="683460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Увеличение длительности операций в ТТ 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по адресу ул. Щорса  в 03:00 и 05:00 обусловлено периодическими сбоями в сети интернет в Солнцевском районе.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А также ТТ по адресам Ленинский пр-т и пр-т Вернадского в промежуток с 11:00 до 15:00, обусловлено введением акции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51E70D8-D1EF-77A9-F7B6-81AF25AB1682}"/>
              </a:ext>
            </a:extLst>
          </p:cNvPr>
          <p:cNvCxnSpPr>
            <a:cxnSpLocks/>
          </p:cNvCxnSpPr>
          <p:nvPr/>
        </p:nvCxnSpPr>
        <p:spPr>
          <a:xfrm flipH="1">
            <a:off x="6266330" y="3155576"/>
            <a:ext cx="277905" cy="273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871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A247DA8-6B68-D205-7C6E-3C5EF8C6035C}"/>
              </a:ext>
            </a:extLst>
          </p:cNvPr>
          <p:cNvSpPr txBox="1">
            <a:spLocks/>
          </p:cNvSpPr>
          <p:nvPr/>
        </p:nvSpPr>
        <p:spPr>
          <a:xfrm>
            <a:off x="838200" y="47211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аномалий 01.09.2022г. (транзакции)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7220C44-DE62-F751-496F-0F44CA311D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1144317"/>
              </p:ext>
            </p:extLst>
          </p:nvPr>
        </p:nvGraphicFramePr>
        <p:xfrm>
          <a:off x="2056138" y="1512625"/>
          <a:ext cx="7577698" cy="368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5A235B-4843-F48D-D1A7-14780A316F75}"/>
              </a:ext>
            </a:extLst>
          </p:cNvPr>
          <p:cNvSpPr txBox="1"/>
          <p:nvPr/>
        </p:nvSpPr>
        <p:spPr>
          <a:xfrm>
            <a:off x="2427683" y="5586316"/>
            <a:ext cx="683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Большее число операций пришлось на ТТ по адресу Ленинский пр-т в 14:00, что обусловлено введением акции.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B1798E5-DB91-1A91-63D0-FD3B232076EF}"/>
              </a:ext>
            </a:extLst>
          </p:cNvPr>
          <p:cNvCxnSpPr>
            <a:cxnSpLocks/>
          </p:cNvCxnSpPr>
          <p:nvPr/>
        </p:nvCxnSpPr>
        <p:spPr>
          <a:xfrm>
            <a:off x="5378823" y="1927411"/>
            <a:ext cx="188259" cy="16136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681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B8BEAFA6-BD0E-0C0C-DCA1-55EB1F5B7D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0888482"/>
              </p:ext>
            </p:extLst>
          </p:nvPr>
        </p:nvGraphicFramePr>
        <p:xfrm>
          <a:off x="2384611" y="1506071"/>
          <a:ext cx="7216589" cy="3775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6456A61-3A8E-CD78-D728-C308B5CEE84C}"/>
              </a:ext>
            </a:extLst>
          </p:cNvPr>
          <p:cNvSpPr txBox="1">
            <a:spLocks/>
          </p:cNvSpPr>
          <p:nvPr/>
        </p:nvSpPr>
        <p:spPr>
          <a:xfrm>
            <a:off x="838200" y="47211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аномалий 01.09.2022г. (сервера)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DC3BC666-82F9-5C5C-7460-BFA30209DC4E}"/>
              </a:ext>
            </a:extLst>
          </p:cNvPr>
          <p:cNvSpPr/>
          <p:nvPr/>
        </p:nvSpPr>
        <p:spPr>
          <a:xfrm>
            <a:off x="3702424" y="2312892"/>
            <a:ext cx="917454" cy="60063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CB2BAF0-F0DA-F9E3-30C9-531BF1FA5696}"/>
              </a:ext>
            </a:extLst>
          </p:cNvPr>
          <p:cNvCxnSpPr>
            <a:cxnSpLocks/>
          </p:cNvCxnSpPr>
          <p:nvPr/>
        </p:nvCxnSpPr>
        <p:spPr>
          <a:xfrm flipH="1">
            <a:off x="6353021" y="2905571"/>
            <a:ext cx="457199" cy="3854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D33B2C-50BA-6C1E-5FCD-3E838EB3ED22}"/>
              </a:ext>
            </a:extLst>
          </p:cNvPr>
          <p:cNvSpPr txBox="1"/>
          <p:nvPr/>
        </p:nvSpPr>
        <p:spPr>
          <a:xfrm>
            <a:off x="2678696" y="5662207"/>
            <a:ext cx="683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Повышение длительности транзакций на сервере 1 в 03:00 и 05:00, а также на сервере 2 с промежуток с 11:00 до 15:00 связано со  сбоям в сети Интернет в Солнцевском р-не. </a:t>
            </a:r>
          </a:p>
        </p:txBody>
      </p:sp>
    </p:spTree>
    <p:extLst>
      <p:ext uri="{BB962C8B-B14F-4D97-AF65-F5344CB8AC3E}">
        <p14:creationId xmlns:p14="http://schemas.microsoft.com/office/powerpoint/2010/main" val="3673252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8A2A5E-7358-D26A-CCCF-E7922050BFB5}"/>
              </a:ext>
            </a:extLst>
          </p:cNvPr>
          <p:cNvSpPr txBox="1">
            <a:spLocks/>
          </p:cNvSpPr>
          <p:nvPr/>
        </p:nvSpPr>
        <p:spPr>
          <a:xfrm>
            <a:off x="838200" y="47211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аномалий 01.09.2022г. (платежные системы)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3B893E03-DFE4-9771-9E8A-A7F3E451B5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9825743"/>
              </p:ext>
            </p:extLst>
          </p:nvPr>
        </p:nvGraphicFramePr>
        <p:xfrm>
          <a:off x="2382804" y="1678686"/>
          <a:ext cx="7426392" cy="3672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CD122AC9-FA80-12D2-1712-29FB354C7465}"/>
              </a:ext>
            </a:extLst>
          </p:cNvPr>
          <p:cNvCxnSpPr>
            <a:cxnSpLocks/>
          </p:cNvCxnSpPr>
          <p:nvPr/>
        </p:nvCxnSpPr>
        <p:spPr>
          <a:xfrm flipH="1">
            <a:off x="6577138" y="2160495"/>
            <a:ext cx="298791" cy="2520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5C859349-DE14-778E-1993-7E824D63BC40}"/>
              </a:ext>
            </a:extLst>
          </p:cNvPr>
          <p:cNvCxnSpPr>
            <a:cxnSpLocks/>
          </p:cNvCxnSpPr>
          <p:nvPr/>
        </p:nvCxnSpPr>
        <p:spPr>
          <a:xfrm flipH="1" flipV="1">
            <a:off x="8486620" y="2782082"/>
            <a:ext cx="227074" cy="2569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98A9E3-7226-B022-A9BF-E89024E2F265}"/>
              </a:ext>
            </a:extLst>
          </p:cNvPr>
          <p:cNvSpPr txBox="1"/>
          <p:nvPr/>
        </p:nvSpPr>
        <p:spPr>
          <a:xfrm>
            <a:off x="2678696" y="5565575"/>
            <a:ext cx="68346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 Увеличение времени транзакции по всем платежным системам в промежуток с 11:00 до 15:00 связано с продвижением проекта  по интеграции множественных платежных систем, а также идет длительная обработка транзакции с ПЛ </a:t>
            </a:r>
            <a:r>
              <a:rPr lang="en-US" sz="1400" dirty="0">
                <a:latin typeface="+mj-lt"/>
              </a:rPr>
              <a:t>MasterCard</a:t>
            </a:r>
            <a:r>
              <a:rPr lang="ru-RU" sz="1400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90581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B7B888D-7850-E9F7-57D9-F0202C1F3D21}"/>
              </a:ext>
            </a:extLst>
          </p:cNvPr>
          <p:cNvSpPr txBox="1">
            <a:spLocks/>
          </p:cNvSpPr>
          <p:nvPr/>
        </p:nvSpPr>
        <p:spPr>
          <a:xfrm>
            <a:off x="838200" y="45418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пользования программой лояльности 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22E63892-C11F-2AB6-DF21-F7E153F1C2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9406926"/>
              </p:ext>
            </p:extLst>
          </p:nvPr>
        </p:nvGraphicFramePr>
        <p:xfrm>
          <a:off x="2252382" y="1627513"/>
          <a:ext cx="7687235" cy="4038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6ED370-8424-0695-9D60-DF0AF5ED52AF}"/>
              </a:ext>
            </a:extLst>
          </p:cNvPr>
          <p:cNvSpPr txBox="1"/>
          <p:nvPr/>
        </p:nvSpPr>
        <p:spPr>
          <a:xfrm>
            <a:off x="2678695" y="5666239"/>
            <a:ext cx="683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Средние потери от использования программы лояльности на 1 операцию составляют 131,65 руб.</a:t>
            </a:r>
          </a:p>
        </p:txBody>
      </p:sp>
    </p:spTree>
    <p:extLst>
      <p:ext uri="{BB962C8B-B14F-4D97-AF65-F5344CB8AC3E}">
        <p14:creationId xmlns:p14="http://schemas.microsoft.com/office/powerpoint/2010/main" val="1533278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1B34DC4B-56E9-D72F-FB67-D8C243A1A3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5151804"/>
              </p:ext>
            </p:extLst>
          </p:nvPr>
        </p:nvGraphicFramePr>
        <p:xfrm>
          <a:off x="2853871" y="1640398"/>
          <a:ext cx="6415998" cy="33852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B098F1E-7155-065B-01FD-F0409FF8B5C9}"/>
              </a:ext>
            </a:extLst>
          </p:cNvPr>
          <p:cNvSpPr txBox="1">
            <a:spLocks/>
          </p:cNvSpPr>
          <p:nvPr/>
        </p:nvSpPr>
        <p:spPr>
          <a:xfrm>
            <a:off x="838200" y="45418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Изменения в условиях программы лояльности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7F48BE-9E45-EAD1-FD26-D317CF0FA8DB}"/>
              </a:ext>
            </a:extLst>
          </p:cNvPr>
          <p:cNvSpPr/>
          <p:nvPr/>
        </p:nvSpPr>
        <p:spPr>
          <a:xfrm>
            <a:off x="3635188" y="5056091"/>
            <a:ext cx="519953" cy="107577"/>
          </a:xfrm>
          <a:prstGeom prst="rect">
            <a:avLst/>
          </a:prstGeom>
          <a:solidFill>
            <a:srgbClr val="4A77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797210F-BF52-7899-5D69-88ACED64585D}"/>
              </a:ext>
            </a:extLst>
          </p:cNvPr>
          <p:cNvCxnSpPr>
            <a:cxnSpLocks/>
          </p:cNvCxnSpPr>
          <p:nvPr/>
        </p:nvCxnSpPr>
        <p:spPr>
          <a:xfrm>
            <a:off x="6545965" y="5109881"/>
            <a:ext cx="519953" cy="0"/>
          </a:xfrm>
          <a:prstGeom prst="line">
            <a:avLst/>
          </a:prstGeom>
          <a:ln w="5715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E599DC-697C-A296-5EFC-D10A1DABDC70}"/>
              </a:ext>
            </a:extLst>
          </p:cNvPr>
          <p:cNvSpPr txBox="1"/>
          <p:nvPr/>
        </p:nvSpPr>
        <p:spPr>
          <a:xfrm>
            <a:off x="4239489" y="4955992"/>
            <a:ext cx="1836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Средняя сумма экономии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2429E-D58E-802A-1278-FC0F0FB30512}"/>
              </a:ext>
            </a:extLst>
          </p:cNvPr>
          <p:cNvSpPr txBox="1"/>
          <p:nvPr/>
        </p:nvSpPr>
        <p:spPr>
          <a:xfrm>
            <a:off x="7150266" y="4955992"/>
            <a:ext cx="2160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+mj-lt"/>
              </a:rPr>
              <a:t>Количество транзакций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AACE28-9822-E1D2-66F7-1B0F2809DFF2}"/>
              </a:ext>
            </a:extLst>
          </p:cNvPr>
          <p:cNvSpPr txBox="1"/>
          <p:nvPr/>
        </p:nvSpPr>
        <p:spPr>
          <a:xfrm>
            <a:off x="2678696" y="5675204"/>
            <a:ext cx="6834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+mj-lt"/>
              </a:rPr>
              <a:t>Средние потери от использования программы лояльности на 1 операцию после введения изменений составляют 115,04 руб.</a:t>
            </a:r>
          </a:p>
        </p:txBody>
      </p:sp>
    </p:spTree>
    <p:extLst>
      <p:ext uri="{BB962C8B-B14F-4D97-AF65-F5344CB8AC3E}">
        <p14:creationId xmlns:p14="http://schemas.microsoft.com/office/powerpoint/2010/main" val="3434037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E8CA8-315B-1765-AC77-E7DFA6F7E992}"/>
              </a:ext>
            </a:extLst>
          </p:cNvPr>
          <p:cNvSpPr txBox="1">
            <a:spLocks/>
          </p:cNvSpPr>
          <p:nvPr/>
        </p:nvSpPr>
        <p:spPr>
          <a:xfrm>
            <a:off x="838200" y="454186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Bold Condensed" panose="020B0502040204020203" pitchFamily="34" charset="0"/>
              </a:rPr>
              <a:t>Анализ данных сети по параметрам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CD663E3-57D3-B68F-98DF-E451E5582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37764"/>
            <a:ext cx="4900719" cy="303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BF408C-B2D7-B892-AA8F-D5308DEBD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2795" t="29139" r="76543" b="45280"/>
          <a:stretch>
            <a:fillRect/>
          </a:stretch>
        </p:blipFill>
        <p:spPr>
          <a:xfrm>
            <a:off x="1810871" y="4867835"/>
            <a:ext cx="2519082" cy="1676400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B590CCE-7786-8026-0463-FC320ADC1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082" y="1837763"/>
            <a:ext cx="4900718" cy="3030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A7889A-EFE1-A2A6-1718-BA38DD80DA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l="2574" t="29412" r="76544" b="45827"/>
          <a:stretch>
            <a:fillRect/>
          </a:stretch>
        </p:blipFill>
        <p:spPr>
          <a:xfrm>
            <a:off x="7630453" y="4921623"/>
            <a:ext cx="2545976" cy="162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52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6745F2F-1EB9-E209-A90D-5D4DE908405E}"/>
              </a:ext>
            </a:extLst>
          </p:cNvPr>
          <p:cNvSpPr txBox="1">
            <a:spLocks/>
          </p:cNvSpPr>
          <p:nvPr/>
        </p:nvSpPr>
        <p:spPr>
          <a:xfrm>
            <a:off x="2343150" y="1054261"/>
            <a:ext cx="10515600" cy="392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dirty="0">
                <a:latin typeface="Bahnschrift SemiBold Condensed" panose="020B0502040204020203" pitchFamily="34" charset="0"/>
              </a:rPr>
              <a:t>Спасибо за внимание!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94AB412-9392-F910-5C40-AF056824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60408" y1="50102" x2="60408" y2="50102"/>
                        <a14:foregroundMark x1="86236" y1="32755" x2="86236" y2="32755"/>
                        <a14:foregroundMark x1="78929" y1="56224" x2="78929" y2="56224"/>
                        <a14:foregroundMark x1="85641" y1="19592" x2="85641" y2="19592"/>
                        <a14:foregroundMark x1="93118" y1="19592" x2="93118" y2="19592"/>
                        <a14:foregroundMark x1="95242" y1="54286" x2="95242" y2="54286"/>
                        <a14:foregroundMark x1="93118" y1="51429" x2="93118" y2="51429"/>
                        <a14:foregroundMark x1="99405" y1="61224" x2="99405" y2="61224"/>
                        <a14:foregroundMark x1="10790" y1="80306" x2="10790" y2="80306"/>
                        <a14:foregroundMark x1="51232" y1="89286" x2="51232" y2="89286"/>
                        <a14:foregroundMark x1="51232" y1="88061" x2="51232" y2="88061"/>
                        <a14:foregroundMark x1="36958" y1="96224" x2="36958" y2="96224"/>
                        <a14:foregroundMark x1="54885" y1="59184" x2="54885" y2="59184"/>
                        <a14:foregroundMark x1="55905" y1="57245" x2="55905" y2="57245"/>
                        <a14:foregroundMark x1="56330" y1="57245" x2="56330" y2="57245"/>
                        <a14:foregroundMark x1="48768" y1="54694" x2="48768" y2="54694"/>
                        <a14:foregroundMark x1="47494" y1="53878" x2="47494" y2="53878"/>
                        <a14:foregroundMark x1="49533" y1="55510" x2="49533" y2="55510"/>
                        <a14:foregroundMark x1="69584" y1="33571" x2="69584" y2="33571"/>
                        <a14:foregroundMark x1="46559" y1="57551" x2="46559" y2="57551"/>
                        <a14:foregroundMark x1="57519" y1="40816" x2="57519" y2="40816"/>
                        <a14:foregroundMark x1="58539" y1="42959" x2="58539" y2="42959"/>
                        <a14:foregroundMark x1="57859" y1="42755" x2="57859" y2="42755"/>
                        <a14:foregroundMark x1="80969" y1="77653" x2="80969" y2="77653"/>
                        <a14:foregroundMark x1="29057" y1="5102" x2="29057" y2="5102"/>
                        <a14:foregroundMark x1="9091" y1="76429" x2="9091" y2="76429"/>
                        <a14:foregroundMark x1="17927" y1="85306" x2="17927" y2="85306"/>
                        <a14:foregroundMark x1="23534" y1="87245" x2="23534" y2="87245"/>
                        <a14:foregroundMark x1="26253" y1="89592" x2="26253" y2="89592"/>
                        <a14:foregroundMark x1="28122" y1="76837" x2="28122" y2="76837"/>
                        <a14:foregroundMark x1="2719" y1="72041" x2="2719" y2="72041"/>
                        <a14:foregroundMark x1="6967" y1="72041" x2="6967" y2="72041"/>
                        <a14:foregroundMark x1="13679" y1="72041" x2="13679" y2="720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651" y="2533650"/>
            <a:ext cx="41182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176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748</Words>
  <Application>Microsoft Office PowerPoint</Application>
  <PresentationFormat>Широкоэкранный</PresentationFormat>
  <Paragraphs>86</Paragraphs>
  <Slides>18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Bahnschrift SemiBold Condensed</vt:lpstr>
      <vt:lpstr>Calibri</vt:lpstr>
      <vt:lpstr>Calibri Light</vt:lpstr>
      <vt:lpstr>Тема Office</vt:lpstr>
      <vt:lpstr>Анализ торговых точек ретейловой сети SkyCrossroad</vt:lpstr>
      <vt:lpstr>Входные параметры</vt:lpstr>
      <vt:lpstr>Анализ роста транзакций</vt:lpstr>
      <vt:lpstr>Анализ нагрузки на серверы</vt:lpstr>
      <vt:lpstr>Анализ работы касс самообслуживания</vt:lpstr>
      <vt:lpstr>Анализ длительности транзакций</vt:lpstr>
      <vt:lpstr>Анализ влияния технических сбоев на транзакции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Александра Демиденко</dc:creator>
  <cp:lastModifiedBy>Александра Демиденко</cp:lastModifiedBy>
  <cp:revision>10</cp:revision>
  <dcterms:created xsi:type="dcterms:W3CDTF">2025-09-20T14:19:04Z</dcterms:created>
  <dcterms:modified xsi:type="dcterms:W3CDTF">2026-07-21T08:22:17Z</dcterms:modified>
</cp:coreProperties>
</file>